
<file path=[Content_Types].xml><?xml version="1.0" encoding="utf-8"?>
<Types xmlns="http://schemas.openxmlformats.org/package/2006/content-types">
  <Default Extension="jpeg" ContentType="image/jpeg"/>
  <Default Extension="JPG" ContentType="image/.jpg"/>
  <Default Extension="tiff" ContentType="image/tif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7" r:id="rId12"/>
    <p:sldId id="263" r:id="rId13"/>
    <p:sldId id="265" r:id="rId14"/>
    <p:sldId id="266" r:id="rId15"/>
    <p:sldId id="268" r:id="rId16"/>
    <p:sldId id="269" r:id="rId17"/>
    <p:sldId id="270" r:id="rId18"/>
    <p:sldId id="271" r:id="rId19"/>
    <p:sldId id="272" r:id="rId20"/>
    <p:sldId id="273" r:id="rId21"/>
    <p:sldId id="264" r:id="rId22"/>
  </p:sldIdLst>
  <p:sldSz cx="12192000" cy="6858000"/>
  <p:notesSz cx="6858000" cy="91440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0" d="100"/>
          <a:sy n="70" d="100"/>
        </p:scale>
        <p:origin x="-1212" y="-108"/>
      </p:cViewPr>
      <p:guideLst>
        <p:guide orient="horz" pos="215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gs" Target="tags/tag18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78DFCC-589B-4A60-9C12-59D686ADFEC6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CC3E0-7DDF-45E7-A937-AD50A2B51CF3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如有异常请联系客服（微信：sootar_ 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如有异常请联系客服（微信：sootar_ 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如有异常请联系客服（微信：sootar_ 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如有异常请联系客服（微信：sootar_ ）</a:t>
            </a:r>
          </a:p>
          <a:p>
            <a:r>
              <a:t>一、背景介绍</a:t>
            </a:r>
          </a:p>
          <a:p>
            <a:r>
              <a:t>本次实习答辩的主题为科技公司实习经历及成果展示。旨在汇报实习期间的学习成果、项目实践、团队协作及对公司业务的认知等方面</a:t>
            </a:r>
          </a:p>
          <a:p>
            <a:r>
              <a:t>二、实习经历</a:t>
            </a:r>
          </a:p>
          <a:p>
            <a:r>
              <a:t>实习时间：X月—至今</a:t>
            </a:r>
          </a:p>
          <a:p>
            <a:r>
              <a:t>主要工作内容：参与多个项目，涉及技术研发、市场调研、产品优化等方面</a:t>
            </a:r>
          </a:p>
          <a:p>
            <a:r>
              <a:t>学习收获：深入了解公司业务，掌握行业前沿技术，提升项目管理和团队协作能力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7500" lnSpcReduction="20000"/>
          </a:bodyPr>
          <a:lstStyle/>
          <a:p>
            <a:r>
              <a:t>如有异常请联系客服（微信：sootar_ ）</a:t>
            </a:r>
          </a:p>
          <a:p>
            <a:r>
              <a:t>三、项目实践</a:t>
            </a:r>
          </a:p>
          <a:p>
            <a:r>
              <a:t>项目一：某智能硬件产品的研发与优化</a:t>
            </a:r>
          </a:p>
          <a:p>
            <a:r>
              <a:t>项目背景：面对市场快速变化，该产品进行了迭代升级</a:t>
            </a:r>
          </a:p>
          <a:p>
            <a:r>
              <a:t>任务完成情况：成功开发并优化了产品功能，提高了用户体验</a:t>
            </a:r>
          </a:p>
          <a:p>
            <a:r>
              <a:t>技术实现亮点：运用先进的人工智能技术，实现了产品的高效智能化</a:t>
            </a:r>
          </a:p>
          <a:p>
            <a:r>
              <a:t>团队协作亮点：与团队成员紧密合作，高效完成了任务</a:t>
            </a:r>
          </a:p>
          <a:p>
            <a:r>
              <a:t>项目二：大数据分析平台建设</a:t>
            </a:r>
          </a:p>
          <a:p>
            <a:r>
              <a:t>项目目标：提高数据处理效率，优化数据使用体验</a:t>
            </a:r>
          </a:p>
          <a:p>
            <a:r>
              <a:t>技术实现过程：采用最新的数据处理技术，实现了高效的数据处理和分析</a:t>
            </a:r>
          </a:p>
          <a:p>
            <a:r>
              <a:t>效果评估：提高了数据处理速度，优化了数据使用体验，得到了客户好评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如有异常请联系客服（微信：sootar_ ）</a:t>
            </a:r>
          </a:p>
          <a:p>
            <a:r>
              <a:t>四、公司业务认知</a:t>
            </a:r>
          </a:p>
          <a:p>
            <a:r>
              <a:t>公司业务概述：本公司主要从事科技研发、产品推广和市场营销</a:t>
            </a:r>
          </a:p>
          <a:p>
            <a:r>
              <a:t>公司优势与特点：公司拥有一支专业的技术团队，在行业内有较高的知名度和口碑。公司注重技术创新，产品线丰富，具有较强的市场竞争力</a:t>
            </a:r>
          </a:p>
          <a:p>
            <a:r>
              <a:t>行业发展趋势：当前，科技行业发展迅速，特别是在人工智能、大数据等领域。本公司紧跟行业发展趋势，持续投入技术研发和产品创新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如有异常请联系客服（微信：sootar_ ）</a:t>
            </a:r>
          </a:p>
          <a:p>
            <a:r>
              <a:t>五、学习成果与成长经历</a:t>
            </a:r>
          </a:p>
          <a:p>
            <a:r>
              <a:t>在实习期间，我通过参与多个项目实践，深入了解了科技公司的运营模式和业务流程。我也提高了自己的项目管理和团队协作能力，对公司的业务有了更加清晰的认识。此外，我还学习了很多前沿技术知识，例如人工智能、大数据分析等。这些知识和技能对我的未来职业发展非常有帮助</a:t>
            </a:r>
          </a:p>
          <a:p>
            <a:r>
              <a:t>六、未来计划与展望</a:t>
            </a:r>
          </a:p>
          <a:p>
            <a:r>
              <a:t>对于未来职业发展，我将继续关注行业动态，持续学习和提高自己的专业技能和知识水平。我计划继续深入参与公司的各个项目，争取为公司做出更大的贡献。同时，我也希望能够在公司的团队协作中锻炼自己的领导能力，为企业的发展做出更大的贡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如有异常请联系客服（微信：sootar_ 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如有异常请联系客服（微信：sootar_ 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如有异常请联系客服（微信：sootar_ 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如有异常请联系客服（微信：sootar_ 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如有异常请联系客服（微信：sootar_ 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如有异常请联系客服（微信：sootar_ 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如有异常请联系客服（微信：sootar_ 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如有异常请联系客服（微信：sootar_ 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如有异常请联系客服（微信：sootar_ 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如有异常请联系客服（微信：sootar_ 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3C48CC-4898-4227-99E3-38BF5B687D0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03948-D416-49AA-81A6-9D281A1AE0F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4391E-76C9-40C9-B421-3F9EB660625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03948-D416-49AA-81A6-9D281A1AE0F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4391E-76C9-40C9-B421-3F9EB660625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03948-D416-49AA-81A6-9D281A1AE0F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4391E-76C9-40C9-B421-3F9EB660625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03948-D416-49AA-81A6-9D281A1AE0FF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4391E-76C9-40C9-B421-3F9EB660625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b="1"/>
              <a:t>单击此处编辑母版文本样式</a:t>
            </a:r>
            <a:endParaRPr lang="zh-CN" altLang="en-US" b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b="1"/>
              <a:t>单击此处编辑母版文本样式</a:t>
            </a:r>
            <a:endParaRPr lang="zh-CN" altLang="en-US" b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03948-D416-49AA-81A6-9D281A1AE0FF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4391E-76C9-40C9-B421-3F9EB660625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03948-D416-49AA-81A6-9D281A1AE0FF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4391E-76C9-40C9-B421-3F9EB660625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03948-D416-49AA-81A6-9D281A1AE0FF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4391E-76C9-40C9-B421-3F9EB660625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03948-D416-49AA-81A6-9D281A1AE0FF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4391E-76C9-40C9-B421-3F9EB660625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03948-D416-49AA-81A6-9D281A1AE0FF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4391E-76C9-40C9-B421-3F9EB660625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03948-D416-49AA-81A6-9D281A1AE0F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4391E-76C9-40C9-B421-3F9EB660625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03948-D416-49AA-81A6-9D281A1AE0F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4391E-76C9-40C9-B421-3F9EB660625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03948-D416-49AA-81A6-9D281A1AE0F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4391E-76C9-40C9-B421-3F9EB660625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03948-D416-49AA-81A6-9D281A1AE0F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4391E-76C9-40C9-B421-3F9EB660625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03948-D416-49AA-81A6-9D281A1AE0F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4391E-76C9-40C9-B421-3F9EB660625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03948-D416-49AA-81A6-9D281A1AE0FF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4391E-76C9-40C9-B421-3F9EB660625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b="1"/>
              <a:t>单击此处编辑母版文本样式</a:t>
            </a:r>
            <a:endParaRPr lang="zh-CN" altLang="en-US" b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b="1"/>
              <a:t>单击此处编辑母版文本样式</a:t>
            </a:r>
            <a:endParaRPr lang="zh-CN" altLang="en-US" b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03948-D416-49AA-81A6-9D281A1AE0FF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4391E-76C9-40C9-B421-3F9EB660625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03948-D416-49AA-81A6-9D281A1AE0FF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4391E-76C9-40C9-B421-3F9EB660625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03948-D416-49AA-81A6-9D281A1AE0FF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4391E-76C9-40C9-B421-3F9EB660625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03948-D416-49AA-81A6-9D281A1AE0FF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4391E-76C9-40C9-B421-3F9EB660625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03948-D416-49AA-81A6-9D281A1AE0FF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4391E-76C9-40C9-B421-3F9EB660625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03948-D416-49AA-81A6-9D281A1AE0F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4391E-76C9-40C9-B421-3F9EB660625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03948-D416-49AA-81A6-9D281A1AE0F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4391E-76C9-40C9-B421-3F9EB660625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65E03948-D416-49AA-81A6-9D281A1AE0F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0DD4391E-76C9-40C9-B421-3F9EB6606255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65E03948-D416-49AA-81A6-9D281A1AE0F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0DD4391E-76C9-40C9-B421-3F9EB6606255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tiff"/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2.tiff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3.tiff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jpeg"/><Relationship Id="rId2" Type="http://schemas.openxmlformats.org/officeDocument/2006/relationships/image" Target="../media/image2.tiff"/><Relationship Id="rId1" Type="http://schemas.openxmlformats.org/officeDocument/2006/relationships/image" Target="../media/image3.tiff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tiff"/><Relationship Id="rId1" Type="http://schemas.openxmlformats.org/officeDocument/2006/relationships/image" Target="../media/image3.tiff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jpeg"/><Relationship Id="rId2" Type="http://schemas.openxmlformats.org/officeDocument/2006/relationships/image" Target="../media/image2.tiff"/><Relationship Id="rId1" Type="http://schemas.openxmlformats.org/officeDocument/2006/relationships/image" Target="../media/image3.tiff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image" Target="../media/image2.tiff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image" Target="../media/image3.tiff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0.png"/><Relationship Id="rId2" Type="http://schemas.openxmlformats.org/officeDocument/2006/relationships/image" Target="../media/image2.tiff"/><Relationship Id="rId1" Type="http://schemas.openxmlformats.org/officeDocument/2006/relationships/image" Target="../media/image3.tiff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2.tiff"/><Relationship Id="rId1" Type="http://schemas.openxmlformats.org/officeDocument/2006/relationships/image" Target="../media/image3.tiff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2.png"/><Relationship Id="rId2" Type="http://schemas.openxmlformats.org/officeDocument/2006/relationships/image" Target="../media/image2.tiff"/><Relationship Id="rId1" Type="http://schemas.openxmlformats.org/officeDocument/2006/relationships/image" Target="../media/image3.tiff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3.png"/><Relationship Id="rId2" Type="http://schemas.openxmlformats.org/officeDocument/2006/relationships/image" Target="../media/image2.tiff"/><Relationship Id="rId1" Type="http://schemas.openxmlformats.org/officeDocument/2006/relationships/image" Target="../media/image3.tiff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2.tiff"/><Relationship Id="rId1" Type="http://schemas.openxmlformats.org/officeDocument/2006/relationships/image" Target="../media/image3.tiff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6.png"/><Relationship Id="rId2" Type="http://schemas.openxmlformats.org/officeDocument/2006/relationships/image" Target="../media/image2.tiff"/><Relationship Id="rId1" Type="http://schemas.openxmlformats.org/officeDocument/2006/relationships/image" Target="../media/image3.tiff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7.png"/><Relationship Id="rId2" Type="http://schemas.openxmlformats.org/officeDocument/2006/relationships/image" Target="../media/image2.tiff"/><Relationship Id="rId1" Type="http://schemas.openxmlformats.org/officeDocument/2006/relationships/image" Target="../media/image3.tiff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8.png"/><Relationship Id="rId2" Type="http://schemas.openxmlformats.org/officeDocument/2006/relationships/image" Target="../media/image2.tiff"/><Relationship Id="rId1" Type="http://schemas.openxmlformats.org/officeDocument/2006/relationships/image" Target="../media/image3.tiff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9.png"/><Relationship Id="rId2" Type="http://schemas.openxmlformats.org/officeDocument/2006/relationships/image" Target="../media/image2.tiff"/><Relationship Id="rId1" Type="http://schemas.openxmlformats.org/officeDocument/2006/relationships/image" Target="../media/image3.tiff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0.png"/><Relationship Id="rId2" Type="http://schemas.openxmlformats.org/officeDocument/2006/relationships/image" Target="../media/image2.tiff"/><Relationship Id="rId1" Type="http://schemas.openxmlformats.org/officeDocument/2006/relationships/image" Target="../media/image3.tiff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7.xml"/><Relationship Id="rId3" Type="http://schemas.openxmlformats.org/officeDocument/2006/relationships/image" Target="../media/image21.png"/><Relationship Id="rId2" Type="http://schemas.openxmlformats.org/officeDocument/2006/relationships/image" Target="../media/image2.tiff"/><Relationship Id="rId1" Type="http://schemas.openxmlformats.org/officeDocument/2006/relationships/image" Target="../media/image3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08" descr="e7d195523061f1c0c2b73831c94a3edc981f60e396d3e182073EE1468018468A7F192AE5E5CD515B6C3125F8AF6E4EE646174E8CF0B46FD19828DCE8CDA3B3A044A74F0E769C5FA8CB87AB6FC303C8BA3785FAC64AF5424764E128FECAE4CC72932BB65C8C121A0F41C1707D94688ED66335DC6AE12288BF2055523C0C26863D2CD4AC454A29EEC183CEF0375334B579"/>
          <p:cNvSpPr/>
          <p:nvPr/>
        </p:nvSpPr>
        <p:spPr>
          <a:xfrm rot="5400000">
            <a:off x="-185037" y="1546030"/>
            <a:ext cx="5497007" cy="5126934"/>
          </a:xfrm>
          <a:custGeom>
            <a:avLst/>
            <a:gdLst>
              <a:gd name="connsiteX0" fmla="*/ 4050301 w 5497007"/>
              <a:gd name="connsiteY0" fmla="*/ 0 h 5126934"/>
              <a:gd name="connsiteX1" fmla="*/ 5442930 w 5497007"/>
              <a:gd name="connsiteY1" fmla="*/ 245771 h 5126934"/>
              <a:gd name="connsiteX2" fmla="*/ 5497007 w 5497007"/>
              <a:gd name="connsiteY2" fmla="*/ 267093 h 5126934"/>
              <a:gd name="connsiteX3" fmla="*/ 5497007 w 5497007"/>
              <a:gd name="connsiteY3" fmla="*/ 2751634 h 5126934"/>
              <a:gd name="connsiteX4" fmla="*/ 5426522 w 5497007"/>
              <a:gd name="connsiteY4" fmla="*/ 2674081 h 5126934"/>
              <a:gd name="connsiteX5" fmla="*/ 4050301 w 5497007"/>
              <a:gd name="connsiteY5" fmla="*/ 2104031 h 5126934"/>
              <a:gd name="connsiteX6" fmla="*/ 2104031 w 5497007"/>
              <a:gd name="connsiteY6" fmla="*/ 4050301 h 5126934"/>
              <a:gd name="connsiteX7" fmla="*/ 2338936 w 5497007"/>
              <a:gd name="connsiteY7" fmla="*/ 4978009 h 5126934"/>
              <a:gd name="connsiteX8" fmla="*/ 2429410 w 5497007"/>
              <a:gd name="connsiteY8" fmla="*/ 5126934 h 5126934"/>
              <a:gd name="connsiteX9" fmla="*/ 145802 w 5497007"/>
              <a:gd name="connsiteY9" fmla="*/ 5126934 h 5126934"/>
              <a:gd name="connsiteX10" fmla="*/ 127515 w 5497007"/>
              <a:gd name="connsiteY10" fmla="*/ 5062534 h 5126934"/>
              <a:gd name="connsiteX11" fmla="*/ 0 w 5497007"/>
              <a:gd name="connsiteY11" fmla="*/ 4050301 h 5126934"/>
              <a:gd name="connsiteX12" fmla="*/ 4050301 w 5497007"/>
              <a:gd name="connsiteY12" fmla="*/ 0 h 51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97007" h="5126934">
                <a:moveTo>
                  <a:pt x="4050301" y="0"/>
                </a:moveTo>
                <a:cubicBezTo>
                  <a:pt x="4539627" y="0"/>
                  <a:pt x="5008686" y="86773"/>
                  <a:pt x="5442930" y="245771"/>
                </a:cubicBezTo>
                <a:lnTo>
                  <a:pt x="5497007" y="267093"/>
                </a:lnTo>
                <a:lnTo>
                  <a:pt x="5497007" y="2751634"/>
                </a:lnTo>
                <a:lnTo>
                  <a:pt x="5426522" y="2674081"/>
                </a:lnTo>
                <a:cubicBezTo>
                  <a:pt x="5074316" y="2321875"/>
                  <a:pt x="4587749" y="2104031"/>
                  <a:pt x="4050301" y="2104031"/>
                </a:cubicBezTo>
                <a:cubicBezTo>
                  <a:pt x="2975406" y="2104031"/>
                  <a:pt x="2104031" y="2975406"/>
                  <a:pt x="2104031" y="4050301"/>
                </a:cubicBezTo>
                <a:cubicBezTo>
                  <a:pt x="2104031" y="4386206"/>
                  <a:pt x="2189126" y="4702236"/>
                  <a:pt x="2338936" y="4978009"/>
                </a:cubicBezTo>
                <a:lnTo>
                  <a:pt x="2429410" y="5126934"/>
                </a:lnTo>
                <a:lnTo>
                  <a:pt x="145802" y="5126934"/>
                </a:lnTo>
                <a:lnTo>
                  <a:pt x="127515" y="5062534"/>
                </a:lnTo>
                <a:cubicBezTo>
                  <a:pt x="44272" y="4738998"/>
                  <a:pt x="0" y="4399820"/>
                  <a:pt x="0" y="4050301"/>
                </a:cubicBezTo>
                <a:cubicBezTo>
                  <a:pt x="0" y="1813382"/>
                  <a:pt x="1813382" y="0"/>
                  <a:pt x="4050301" y="0"/>
                </a:cubicBezTo>
                <a:close/>
              </a:path>
            </a:pathLst>
          </a:custGeom>
          <a:solidFill>
            <a:srgbClr val="2FA1F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17" name="Freeform: Shape 108" descr="e7d195523061f1c0c2b73831c94a3edc981f60e396d3e182073EE1468018468A7F192AE5E5CD515B6C3125F8AF6E4EE646174E8CF0B46FD19828DCE8CDA3B3A044A74F0E769C5FA8CB87AB6FC303C8BA3785FAC64AF5424764E128FECAE4CC72932BB65C8C121A0F41C1707D94688ED66335DC6AE12288BF2055523C0C26863D2CD4AC454A29EEC183CEF0375334B579"/>
          <p:cNvSpPr/>
          <p:nvPr/>
        </p:nvSpPr>
        <p:spPr>
          <a:xfrm rot="16200000">
            <a:off x="9707618" y="55504"/>
            <a:ext cx="2539887" cy="2428877"/>
          </a:xfrm>
          <a:custGeom>
            <a:avLst/>
            <a:gdLst>
              <a:gd name="connsiteX0" fmla="*/ 4050301 w 5497007"/>
              <a:gd name="connsiteY0" fmla="*/ 0 h 5126934"/>
              <a:gd name="connsiteX1" fmla="*/ 5442930 w 5497007"/>
              <a:gd name="connsiteY1" fmla="*/ 245771 h 5126934"/>
              <a:gd name="connsiteX2" fmla="*/ 5497007 w 5497007"/>
              <a:gd name="connsiteY2" fmla="*/ 267093 h 5126934"/>
              <a:gd name="connsiteX3" fmla="*/ 5497007 w 5497007"/>
              <a:gd name="connsiteY3" fmla="*/ 2751634 h 5126934"/>
              <a:gd name="connsiteX4" fmla="*/ 5426522 w 5497007"/>
              <a:gd name="connsiteY4" fmla="*/ 2674081 h 5126934"/>
              <a:gd name="connsiteX5" fmla="*/ 4050301 w 5497007"/>
              <a:gd name="connsiteY5" fmla="*/ 2104031 h 5126934"/>
              <a:gd name="connsiteX6" fmla="*/ 2104031 w 5497007"/>
              <a:gd name="connsiteY6" fmla="*/ 4050301 h 5126934"/>
              <a:gd name="connsiteX7" fmla="*/ 2338936 w 5497007"/>
              <a:gd name="connsiteY7" fmla="*/ 4978009 h 5126934"/>
              <a:gd name="connsiteX8" fmla="*/ 2429410 w 5497007"/>
              <a:gd name="connsiteY8" fmla="*/ 5126934 h 5126934"/>
              <a:gd name="connsiteX9" fmla="*/ 145802 w 5497007"/>
              <a:gd name="connsiteY9" fmla="*/ 5126934 h 5126934"/>
              <a:gd name="connsiteX10" fmla="*/ 127515 w 5497007"/>
              <a:gd name="connsiteY10" fmla="*/ 5062534 h 5126934"/>
              <a:gd name="connsiteX11" fmla="*/ 0 w 5497007"/>
              <a:gd name="connsiteY11" fmla="*/ 4050301 h 5126934"/>
              <a:gd name="connsiteX12" fmla="*/ 4050301 w 5497007"/>
              <a:gd name="connsiteY12" fmla="*/ 0 h 51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97007" h="5126934">
                <a:moveTo>
                  <a:pt x="4050301" y="0"/>
                </a:moveTo>
                <a:cubicBezTo>
                  <a:pt x="4539627" y="0"/>
                  <a:pt x="5008686" y="86773"/>
                  <a:pt x="5442930" y="245771"/>
                </a:cubicBezTo>
                <a:lnTo>
                  <a:pt x="5497007" y="267093"/>
                </a:lnTo>
                <a:lnTo>
                  <a:pt x="5497007" y="2751634"/>
                </a:lnTo>
                <a:lnTo>
                  <a:pt x="5426522" y="2674081"/>
                </a:lnTo>
                <a:cubicBezTo>
                  <a:pt x="5074316" y="2321875"/>
                  <a:pt x="4587749" y="2104031"/>
                  <a:pt x="4050301" y="2104031"/>
                </a:cubicBezTo>
                <a:cubicBezTo>
                  <a:pt x="2975406" y="2104031"/>
                  <a:pt x="2104031" y="2975406"/>
                  <a:pt x="2104031" y="4050301"/>
                </a:cubicBezTo>
                <a:cubicBezTo>
                  <a:pt x="2104031" y="4386206"/>
                  <a:pt x="2189126" y="4702236"/>
                  <a:pt x="2338936" y="4978009"/>
                </a:cubicBezTo>
                <a:lnTo>
                  <a:pt x="2429410" y="5126934"/>
                </a:lnTo>
                <a:lnTo>
                  <a:pt x="145802" y="5126934"/>
                </a:lnTo>
                <a:lnTo>
                  <a:pt x="127515" y="5062534"/>
                </a:lnTo>
                <a:cubicBezTo>
                  <a:pt x="44272" y="4738998"/>
                  <a:pt x="0" y="4399820"/>
                  <a:pt x="0" y="4050301"/>
                </a:cubicBezTo>
                <a:cubicBezTo>
                  <a:pt x="0" y="1813382"/>
                  <a:pt x="1813382" y="0"/>
                  <a:pt x="4050301" y="0"/>
                </a:cubicBezTo>
                <a:close/>
              </a:path>
            </a:pathLst>
          </a:custGeom>
          <a:solidFill>
            <a:srgbClr val="A7EBF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18" name="PA-矩形 3"/>
          <p:cNvSpPr/>
          <p:nvPr>
            <p:custDataLst>
              <p:tags r:id="rId1"/>
            </p:custDataLst>
          </p:nvPr>
        </p:nvSpPr>
        <p:spPr>
          <a:xfrm>
            <a:off x="5932170" y="2188845"/>
            <a:ext cx="5640705" cy="2360295"/>
          </a:xfrm>
          <a:prstGeom prst="rect">
            <a:avLst/>
          </a:prstGeom>
        </p:spPr>
        <p:txBody>
          <a:bodyPr wrap="square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zh-CN" sz="8000" b="1">
                <a:solidFill>
                  <a:srgbClr val="000000">
                    <a:lumMod val="75000"/>
                    <a:lumOff val="25000"/>
                  </a:srgbClr>
                </a:solidFill>
                <a:latin typeface="宋体" panose="02010600030101010101" pitchFamily="2" charset="-122"/>
                <a:ea typeface="思源黑体 CN Heavy" panose="020B0A00000000000000" pitchFamily="34" charset="-128"/>
                <a:sym typeface="宋体" panose="02010600030101010101" pitchFamily="2" charset="-122"/>
              </a:rPr>
              <a:t>实习答辩</a:t>
            </a:r>
            <a:endParaRPr lang="zh-CN" altLang="zh-CN" sz="8000" b="1">
              <a:solidFill>
                <a:srgbClr val="000000">
                  <a:lumMod val="75000"/>
                  <a:lumOff val="25000"/>
                </a:srgbClr>
              </a:solidFill>
              <a:latin typeface="宋体" panose="02010600030101010101" pitchFamily="2" charset="-122"/>
              <a:ea typeface="思源黑体 CN Heavy" panose="020B0A00000000000000" pitchFamily="34" charset="-128"/>
              <a:sym typeface="宋体" panose="02010600030101010101" pitchFamily="2" charset="-122"/>
            </a:endParaRPr>
          </a:p>
        </p:txBody>
      </p:sp>
      <p:sp>
        <p:nvSpPr>
          <p:cNvPr id="22" name="矩形: 圆角 6"/>
          <p:cNvSpPr/>
          <p:nvPr/>
        </p:nvSpPr>
        <p:spPr>
          <a:xfrm>
            <a:off x="6037580" y="4676140"/>
            <a:ext cx="1805940" cy="443230"/>
          </a:xfrm>
          <a:prstGeom prst="roundRect">
            <a:avLst/>
          </a:prstGeom>
          <a:solidFill>
            <a:srgbClr val="2FA1FA">
              <a:lumMod val="60000"/>
              <a:lumOff val="40000"/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方正黑体简体" panose="02010601030101010101" pitchFamily="2" charset="-122"/>
                <a:cs typeface="+mn-cs"/>
                <a:sym typeface="宋体" panose="02010600030101010101" pitchFamily="2" charset="-122"/>
              </a:rPr>
              <a:t>汇报人：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方正黑体简体" panose="02010601030101010101" pitchFamily="2" charset="-122"/>
                <a:cs typeface="+mn-cs"/>
                <a:sym typeface="宋体" panose="02010600030101010101" pitchFamily="2" charset="-122"/>
              </a:rPr>
              <a:t>吴智杰</a:t>
            </a: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anose="02010600030101010101" pitchFamily="2" charset="-122"/>
              <a:ea typeface="方正黑体简体" panose="02010601030101010101" pitchFamily="2" charset="-122"/>
              <a:cs typeface="+mn-cs"/>
              <a:sym typeface="宋体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63" y="-351160"/>
            <a:ext cx="1067658" cy="1067658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4645" y="5355275"/>
            <a:ext cx="2178183" cy="2178183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3809" y="4745782"/>
            <a:ext cx="1170439" cy="1877263"/>
          </a:xfrm>
          <a:prstGeom prst="rect">
            <a:avLst/>
          </a:prstGeom>
        </p:spPr>
      </p:pic>
      <p:sp>
        <p:nvSpPr>
          <p:cNvPr id="6" name="任意多边形: 形状 5"/>
          <p:cNvSpPr/>
          <p:nvPr/>
        </p:nvSpPr>
        <p:spPr>
          <a:xfrm>
            <a:off x="245680" y="2539887"/>
            <a:ext cx="6748865" cy="3375174"/>
          </a:xfrm>
          <a:custGeom>
            <a:avLst/>
            <a:gdLst>
              <a:gd name="connsiteX0" fmla="*/ 89403 w 6748865"/>
              <a:gd name="connsiteY0" fmla="*/ 1728174 h 3375174"/>
              <a:gd name="connsiteX1" fmla="*/ 85289 w 6748865"/>
              <a:gd name="connsiteY1" fmla="*/ 1730232 h 3375174"/>
              <a:gd name="connsiteX2" fmla="*/ 0 w 6748865"/>
              <a:gd name="connsiteY2" fmla="*/ 1687604 h 3375174"/>
              <a:gd name="connsiteX3" fmla="*/ 85289 w 6748865"/>
              <a:gd name="connsiteY3" fmla="*/ 1644943 h 3375174"/>
              <a:gd name="connsiteX4" fmla="*/ 89403 w 6748865"/>
              <a:gd name="connsiteY4" fmla="*/ 1647000 h 3375174"/>
              <a:gd name="connsiteX5" fmla="*/ 8229 w 6748865"/>
              <a:gd name="connsiteY5" fmla="*/ 1687604 h 3375174"/>
              <a:gd name="connsiteX6" fmla="*/ 89403 w 6748865"/>
              <a:gd name="connsiteY6" fmla="*/ 1728174 h 3375174"/>
              <a:gd name="connsiteX7" fmla="*/ 3459722 w 6748865"/>
              <a:gd name="connsiteY7" fmla="*/ 42661 h 3375174"/>
              <a:gd name="connsiteX8" fmla="*/ 3455607 w 6748865"/>
              <a:gd name="connsiteY8" fmla="*/ 44719 h 3375174"/>
              <a:gd name="connsiteX9" fmla="*/ 3374433 w 6748865"/>
              <a:gd name="connsiteY9" fmla="*/ 4148 h 3375174"/>
              <a:gd name="connsiteX10" fmla="*/ 3293258 w 6748865"/>
              <a:gd name="connsiteY10" fmla="*/ 44719 h 3375174"/>
              <a:gd name="connsiteX11" fmla="*/ 3289144 w 6748865"/>
              <a:gd name="connsiteY11" fmla="*/ 42661 h 3375174"/>
              <a:gd name="connsiteX12" fmla="*/ 3374433 w 6748865"/>
              <a:gd name="connsiteY12" fmla="*/ 0 h 3375174"/>
              <a:gd name="connsiteX13" fmla="*/ 3459722 w 6748865"/>
              <a:gd name="connsiteY13" fmla="*/ 42661 h 3375174"/>
              <a:gd name="connsiteX14" fmla="*/ 3459722 w 6748865"/>
              <a:gd name="connsiteY14" fmla="*/ 3332513 h 3375174"/>
              <a:gd name="connsiteX15" fmla="*/ 3374433 w 6748865"/>
              <a:gd name="connsiteY15" fmla="*/ 3375174 h 3375174"/>
              <a:gd name="connsiteX16" fmla="*/ 3289144 w 6748865"/>
              <a:gd name="connsiteY16" fmla="*/ 3332513 h 3375174"/>
              <a:gd name="connsiteX17" fmla="*/ 3293258 w 6748865"/>
              <a:gd name="connsiteY17" fmla="*/ 3330456 h 3375174"/>
              <a:gd name="connsiteX18" fmla="*/ 3374433 w 6748865"/>
              <a:gd name="connsiteY18" fmla="*/ 3371060 h 3375174"/>
              <a:gd name="connsiteX19" fmla="*/ 3455607 w 6748865"/>
              <a:gd name="connsiteY19" fmla="*/ 3330456 h 3375174"/>
              <a:gd name="connsiteX20" fmla="*/ 3459722 w 6748865"/>
              <a:gd name="connsiteY20" fmla="*/ 3332513 h 3375174"/>
              <a:gd name="connsiteX21" fmla="*/ 6748866 w 6748865"/>
              <a:gd name="connsiteY21" fmla="*/ 1687604 h 3375174"/>
              <a:gd name="connsiteX22" fmla="*/ 6663577 w 6748865"/>
              <a:gd name="connsiteY22" fmla="*/ 1730232 h 3375174"/>
              <a:gd name="connsiteX23" fmla="*/ 6659462 w 6748865"/>
              <a:gd name="connsiteY23" fmla="*/ 1728174 h 3375174"/>
              <a:gd name="connsiteX24" fmla="*/ 6740636 w 6748865"/>
              <a:gd name="connsiteY24" fmla="*/ 1687604 h 3375174"/>
              <a:gd name="connsiteX25" fmla="*/ 6659462 w 6748865"/>
              <a:gd name="connsiteY25" fmla="*/ 1647000 h 3375174"/>
              <a:gd name="connsiteX26" fmla="*/ 6663577 w 6748865"/>
              <a:gd name="connsiteY26" fmla="*/ 1644943 h 3375174"/>
              <a:gd name="connsiteX27" fmla="*/ 6748866 w 6748865"/>
              <a:gd name="connsiteY27" fmla="*/ 1687604 h 3375174"/>
              <a:gd name="connsiteX28" fmla="*/ 463879 w 6748865"/>
              <a:gd name="connsiteY28" fmla="*/ 1459728 h 3375174"/>
              <a:gd name="connsiteX29" fmla="*/ 297449 w 6748865"/>
              <a:gd name="connsiteY29" fmla="*/ 1542960 h 3375174"/>
              <a:gd name="connsiteX30" fmla="*/ 293301 w 6748865"/>
              <a:gd name="connsiteY30" fmla="*/ 1540903 h 3375174"/>
              <a:gd name="connsiteX31" fmla="*/ 459765 w 6748865"/>
              <a:gd name="connsiteY31" fmla="*/ 1457671 h 3375174"/>
              <a:gd name="connsiteX32" fmla="*/ 463879 w 6748865"/>
              <a:gd name="connsiteY32" fmla="*/ 1459728 h 3375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748865" h="3375173">
                <a:moveTo>
                  <a:pt x="89403" y="1728174"/>
                </a:moveTo>
                <a:lnTo>
                  <a:pt x="85289" y="1730232"/>
                </a:lnTo>
                <a:lnTo>
                  <a:pt x="0" y="1687604"/>
                </a:lnTo>
                <a:lnTo>
                  <a:pt x="85289" y="1644943"/>
                </a:lnTo>
                <a:lnTo>
                  <a:pt x="89403" y="1647000"/>
                </a:lnTo>
                <a:lnTo>
                  <a:pt x="8229" y="1687604"/>
                </a:lnTo>
                <a:lnTo>
                  <a:pt x="89403" y="1728174"/>
                </a:lnTo>
                <a:close/>
                <a:moveTo>
                  <a:pt x="3459722" y="42661"/>
                </a:moveTo>
                <a:lnTo>
                  <a:pt x="3455607" y="44719"/>
                </a:lnTo>
                <a:lnTo>
                  <a:pt x="3374433" y="4148"/>
                </a:lnTo>
                <a:lnTo>
                  <a:pt x="3293258" y="44719"/>
                </a:lnTo>
                <a:lnTo>
                  <a:pt x="3289144" y="42661"/>
                </a:lnTo>
                <a:lnTo>
                  <a:pt x="3374433" y="0"/>
                </a:lnTo>
                <a:lnTo>
                  <a:pt x="3459722" y="42661"/>
                </a:lnTo>
                <a:close/>
                <a:moveTo>
                  <a:pt x="3459722" y="3332513"/>
                </a:moveTo>
                <a:lnTo>
                  <a:pt x="3374433" y="3375174"/>
                </a:lnTo>
                <a:lnTo>
                  <a:pt x="3289144" y="3332513"/>
                </a:lnTo>
                <a:lnTo>
                  <a:pt x="3293258" y="3330456"/>
                </a:lnTo>
                <a:lnTo>
                  <a:pt x="3374433" y="3371060"/>
                </a:lnTo>
                <a:lnTo>
                  <a:pt x="3455607" y="3330456"/>
                </a:lnTo>
                <a:lnTo>
                  <a:pt x="3459722" y="3332513"/>
                </a:lnTo>
                <a:close/>
                <a:moveTo>
                  <a:pt x="6748866" y="1687604"/>
                </a:moveTo>
                <a:lnTo>
                  <a:pt x="6663577" y="1730232"/>
                </a:lnTo>
                <a:lnTo>
                  <a:pt x="6659462" y="1728174"/>
                </a:lnTo>
                <a:lnTo>
                  <a:pt x="6740636" y="1687604"/>
                </a:lnTo>
                <a:lnTo>
                  <a:pt x="6659462" y="1647000"/>
                </a:lnTo>
                <a:lnTo>
                  <a:pt x="6663577" y="1644943"/>
                </a:lnTo>
                <a:lnTo>
                  <a:pt x="6748866" y="1687604"/>
                </a:lnTo>
                <a:close/>
                <a:moveTo>
                  <a:pt x="463879" y="1459728"/>
                </a:moveTo>
                <a:lnTo>
                  <a:pt x="297449" y="1542960"/>
                </a:lnTo>
                <a:lnTo>
                  <a:pt x="293301" y="1540903"/>
                </a:lnTo>
                <a:lnTo>
                  <a:pt x="459765" y="1457671"/>
                </a:lnTo>
                <a:lnTo>
                  <a:pt x="463879" y="1459728"/>
                </a:lnTo>
                <a:close/>
              </a:path>
            </a:pathLst>
          </a:custGeom>
          <a:solidFill>
            <a:srgbClr val="FFFFFF"/>
          </a:solidFill>
          <a:ln w="336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7" name="任意多边形: 形状 6"/>
          <p:cNvSpPr/>
          <p:nvPr/>
        </p:nvSpPr>
        <p:spPr>
          <a:xfrm>
            <a:off x="622214" y="3810253"/>
            <a:ext cx="461856" cy="272594"/>
          </a:xfrm>
          <a:custGeom>
            <a:avLst/>
            <a:gdLst>
              <a:gd name="connsiteX0" fmla="*/ 87346 w 461856"/>
              <a:gd name="connsiteY0" fmla="*/ 270538 h 272594"/>
              <a:gd name="connsiteX1" fmla="*/ 83232 w 461856"/>
              <a:gd name="connsiteY1" fmla="*/ 272595 h 272594"/>
              <a:gd name="connsiteX2" fmla="*/ 0 w 461856"/>
              <a:gd name="connsiteY2" fmla="*/ 230979 h 272594"/>
              <a:gd name="connsiteX3" fmla="*/ 4148 w 461856"/>
              <a:gd name="connsiteY3" fmla="*/ 228921 h 272594"/>
              <a:gd name="connsiteX4" fmla="*/ 87346 w 461856"/>
              <a:gd name="connsiteY4" fmla="*/ 270538 h 272594"/>
              <a:gd name="connsiteX5" fmla="*/ 461856 w 461856"/>
              <a:gd name="connsiteY5" fmla="*/ 2058 h 272594"/>
              <a:gd name="connsiteX6" fmla="*/ 295392 w 461856"/>
              <a:gd name="connsiteY6" fmla="*/ 85323 h 272594"/>
              <a:gd name="connsiteX7" fmla="*/ 291278 w 461856"/>
              <a:gd name="connsiteY7" fmla="*/ 83266 h 272594"/>
              <a:gd name="connsiteX8" fmla="*/ 457742 w 461856"/>
              <a:gd name="connsiteY8" fmla="*/ 0 h 272594"/>
              <a:gd name="connsiteX9" fmla="*/ 461856 w 461856"/>
              <a:gd name="connsiteY9" fmla="*/ 2058 h 27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1856" h="272594">
                <a:moveTo>
                  <a:pt x="87346" y="270538"/>
                </a:moveTo>
                <a:lnTo>
                  <a:pt x="83232" y="272595"/>
                </a:lnTo>
                <a:lnTo>
                  <a:pt x="0" y="230979"/>
                </a:lnTo>
                <a:lnTo>
                  <a:pt x="4148" y="228921"/>
                </a:lnTo>
                <a:lnTo>
                  <a:pt x="87346" y="270538"/>
                </a:lnTo>
                <a:close/>
                <a:moveTo>
                  <a:pt x="461856" y="2058"/>
                </a:moveTo>
                <a:lnTo>
                  <a:pt x="295392" y="85323"/>
                </a:lnTo>
                <a:lnTo>
                  <a:pt x="291278" y="83266"/>
                </a:lnTo>
                <a:lnTo>
                  <a:pt x="457742" y="0"/>
                </a:lnTo>
                <a:lnTo>
                  <a:pt x="461856" y="2058"/>
                </a:lnTo>
                <a:close/>
              </a:path>
            </a:pathLst>
          </a:custGeom>
          <a:solidFill>
            <a:srgbClr val="FFFFFF"/>
          </a:solidFill>
          <a:ln w="336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96" name="任意多边形: 形状 95"/>
          <p:cNvSpPr/>
          <p:nvPr/>
        </p:nvSpPr>
        <p:spPr>
          <a:xfrm>
            <a:off x="6156156" y="4372102"/>
            <a:ext cx="545054" cy="230978"/>
          </a:xfrm>
          <a:custGeom>
            <a:avLst/>
            <a:gdLst>
              <a:gd name="connsiteX0" fmla="*/ 87346 w 545054"/>
              <a:gd name="connsiteY0" fmla="*/ 228921 h 230978"/>
              <a:gd name="connsiteX1" fmla="*/ 83232 w 545054"/>
              <a:gd name="connsiteY1" fmla="*/ 230979 h 230978"/>
              <a:gd name="connsiteX2" fmla="*/ 0 w 545054"/>
              <a:gd name="connsiteY2" fmla="*/ 189362 h 230978"/>
              <a:gd name="connsiteX3" fmla="*/ 4148 w 545054"/>
              <a:gd name="connsiteY3" fmla="*/ 187271 h 230978"/>
              <a:gd name="connsiteX4" fmla="*/ 87346 w 545054"/>
              <a:gd name="connsiteY4" fmla="*/ 228921 h 230978"/>
              <a:gd name="connsiteX5" fmla="*/ 545055 w 545054"/>
              <a:gd name="connsiteY5" fmla="*/ 2057 h 230978"/>
              <a:gd name="connsiteX6" fmla="*/ 378624 w 545054"/>
              <a:gd name="connsiteY6" fmla="*/ 85323 h 230978"/>
              <a:gd name="connsiteX7" fmla="*/ 374510 w 545054"/>
              <a:gd name="connsiteY7" fmla="*/ 83265 h 230978"/>
              <a:gd name="connsiteX8" fmla="*/ 540940 w 545054"/>
              <a:gd name="connsiteY8" fmla="*/ 0 h 230978"/>
              <a:gd name="connsiteX9" fmla="*/ 545055 w 545054"/>
              <a:gd name="connsiteY9" fmla="*/ 2057 h 230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45054" h="230978">
                <a:moveTo>
                  <a:pt x="87346" y="228921"/>
                </a:moveTo>
                <a:lnTo>
                  <a:pt x="83232" y="230979"/>
                </a:lnTo>
                <a:lnTo>
                  <a:pt x="0" y="189362"/>
                </a:lnTo>
                <a:lnTo>
                  <a:pt x="4148" y="187271"/>
                </a:lnTo>
                <a:lnTo>
                  <a:pt x="87346" y="228921"/>
                </a:lnTo>
                <a:close/>
                <a:moveTo>
                  <a:pt x="545055" y="2057"/>
                </a:moveTo>
                <a:lnTo>
                  <a:pt x="378624" y="85323"/>
                </a:lnTo>
                <a:lnTo>
                  <a:pt x="374510" y="83265"/>
                </a:lnTo>
                <a:lnTo>
                  <a:pt x="540940" y="0"/>
                </a:lnTo>
                <a:lnTo>
                  <a:pt x="545055" y="2057"/>
                </a:lnTo>
                <a:close/>
              </a:path>
            </a:pathLst>
          </a:custGeom>
          <a:solidFill>
            <a:srgbClr val="FFFFFF"/>
          </a:solidFill>
          <a:ln w="336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104" name="任意多边形: 形状 103"/>
          <p:cNvSpPr/>
          <p:nvPr/>
        </p:nvSpPr>
        <p:spPr>
          <a:xfrm>
            <a:off x="538982" y="4372102"/>
            <a:ext cx="545054" cy="230978"/>
          </a:xfrm>
          <a:custGeom>
            <a:avLst/>
            <a:gdLst>
              <a:gd name="connsiteX0" fmla="*/ 545054 w 545054"/>
              <a:gd name="connsiteY0" fmla="*/ 189329 h 230978"/>
              <a:gd name="connsiteX1" fmla="*/ 461822 w 545054"/>
              <a:gd name="connsiteY1" fmla="*/ 230979 h 230978"/>
              <a:gd name="connsiteX2" fmla="*/ 457708 w 545054"/>
              <a:gd name="connsiteY2" fmla="*/ 228921 h 230978"/>
              <a:gd name="connsiteX3" fmla="*/ 540940 w 545054"/>
              <a:gd name="connsiteY3" fmla="*/ 187271 h 230978"/>
              <a:gd name="connsiteX4" fmla="*/ 545054 w 545054"/>
              <a:gd name="connsiteY4" fmla="*/ 189329 h 230978"/>
              <a:gd name="connsiteX5" fmla="*/ 170578 w 545054"/>
              <a:gd name="connsiteY5" fmla="*/ 83265 h 230978"/>
              <a:gd name="connsiteX6" fmla="*/ 166464 w 545054"/>
              <a:gd name="connsiteY6" fmla="*/ 85323 h 230978"/>
              <a:gd name="connsiteX7" fmla="*/ 0 w 545054"/>
              <a:gd name="connsiteY7" fmla="*/ 2057 h 230978"/>
              <a:gd name="connsiteX8" fmla="*/ 4148 w 545054"/>
              <a:gd name="connsiteY8" fmla="*/ 0 h 230978"/>
              <a:gd name="connsiteX9" fmla="*/ 170578 w 545054"/>
              <a:gd name="connsiteY9" fmla="*/ 83265 h 230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45054" h="230978">
                <a:moveTo>
                  <a:pt x="545054" y="189329"/>
                </a:moveTo>
                <a:lnTo>
                  <a:pt x="461822" y="230979"/>
                </a:lnTo>
                <a:lnTo>
                  <a:pt x="457708" y="228921"/>
                </a:lnTo>
                <a:lnTo>
                  <a:pt x="540940" y="187271"/>
                </a:lnTo>
                <a:lnTo>
                  <a:pt x="545054" y="189329"/>
                </a:lnTo>
                <a:close/>
                <a:moveTo>
                  <a:pt x="170578" y="83265"/>
                </a:moveTo>
                <a:lnTo>
                  <a:pt x="166464" y="85323"/>
                </a:lnTo>
                <a:lnTo>
                  <a:pt x="0" y="2057"/>
                </a:lnTo>
                <a:lnTo>
                  <a:pt x="4148" y="0"/>
                </a:lnTo>
                <a:lnTo>
                  <a:pt x="170578" y="83265"/>
                </a:lnTo>
                <a:close/>
              </a:path>
            </a:pathLst>
          </a:custGeom>
          <a:solidFill>
            <a:srgbClr val="FFFFFF"/>
          </a:solidFill>
          <a:ln w="336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105" name="任意多边形: 形状 104"/>
          <p:cNvSpPr/>
          <p:nvPr/>
        </p:nvSpPr>
        <p:spPr>
          <a:xfrm>
            <a:off x="622214" y="4372102"/>
            <a:ext cx="87346" cy="43672"/>
          </a:xfrm>
          <a:custGeom>
            <a:avLst/>
            <a:gdLst>
              <a:gd name="connsiteX0" fmla="*/ 87346 w 87346"/>
              <a:gd name="connsiteY0" fmla="*/ 2057 h 43672"/>
              <a:gd name="connsiteX1" fmla="*/ 4114 w 87346"/>
              <a:gd name="connsiteY1" fmla="*/ 43673 h 43672"/>
              <a:gd name="connsiteX2" fmla="*/ 0 w 87346"/>
              <a:gd name="connsiteY2" fmla="*/ 41616 h 43672"/>
              <a:gd name="connsiteX3" fmla="*/ 83232 w 87346"/>
              <a:gd name="connsiteY3" fmla="*/ 0 h 43672"/>
              <a:gd name="connsiteX4" fmla="*/ 87346 w 87346"/>
              <a:gd name="connsiteY4" fmla="*/ 2057 h 43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346" h="43672">
                <a:moveTo>
                  <a:pt x="87346" y="2057"/>
                </a:moveTo>
                <a:lnTo>
                  <a:pt x="4114" y="43673"/>
                </a:lnTo>
                <a:lnTo>
                  <a:pt x="0" y="41616"/>
                </a:lnTo>
                <a:lnTo>
                  <a:pt x="83232" y="0"/>
                </a:lnTo>
                <a:lnTo>
                  <a:pt x="87346" y="2057"/>
                </a:lnTo>
                <a:close/>
              </a:path>
            </a:pathLst>
          </a:custGeom>
          <a:solidFill>
            <a:srgbClr val="FFFFFF"/>
          </a:solidFill>
          <a:ln w="336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pic>
        <p:nvPicPr>
          <p:cNvPr id="395" name="图片 3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148" y="1353385"/>
            <a:ext cx="5472323" cy="46846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decel="10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7" presetClass="entr" presetSubtype="0" fill="hold" grpId="2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1"/>
      <p:bldP spid="18" grpId="2"/>
      <p:bldP spid="22" grpId="3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6"/>
          <p:cNvSpPr txBox="1"/>
          <p:nvPr/>
        </p:nvSpPr>
        <p:spPr>
          <a:xfrm>
            <a:off x="1220561" y="453510"/>
            <a:ext cx="10479741" cy="72742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思源黑体 CN Normal" panose="020B0400000000000000" pitchFamily="34" charset="-122"/>
                <a:cs typeface="+mn-ea"/>
                <a:sym typeface="宋体" panose="02010600030101010101" pitchFamily="2" charset="-122"/>
              </a:rPr>
              <a:t>-</a:t>
            </a:r>
            <a:endParaRPr lang="zh-CN" altLang="zh-CN" sz="2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思源黑体 CN Normal" panose="020B0400000000000000" pitchFamily="34" charset="-122"/>
              <a:cs typeface="+mn-ea"/>
              <a:sym typeface="宋体" panose="02010600030101010101" pitchFamily="2" charset="-122"/>
            </a:endParaRPr>
          </a:p>
        </p:txBody>
      </p:sp>
      <p:pic>
        <p:nvPicPr>
          <p:cNvPr id="61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491698" y="453510"/>
            <a:ext cx="490941" cy="787419"/>
          </a:xfrm>
          <a:prstGeom prst="rect">
            <a:avLst/>
          </a:prstGeom>
          <a:ln>
            <a:noFill/>
          </a:ln>
        </p:spPr>
      </p:pic>
      <p:sp>
        <p:nvSpPr>
          <p:cNvPr id="62" name="Freeform: Shape 108" descr="e7d195523061f1c0c2b73831c94a3edc981f60e396d3e182073EE1468018468A7F192AE5E5CD515B6C3125F8AF6E4EE646174E8CF0B46FD19828DCE8CDA3B3A044A74F0E769C5FA8CB87AB6FC303C8BA3785FAC64AF5424764E128FECAE4CC72932BB65C8C121A0F41C1707D94688ED66335DC6AE12288BF2055523C0C26863D2CD4AC454A29EEC183CEF0375334B579"/>
          <p:cNvSpPr/>
          <p:nvPr/>
        </p:nvSpPr>
        <p:spPr>
          <a:xfrm rot="16200000">
            <a:off x="10426914" y="7729"/>
            <a:ext cx="1772817" cy="1757355"/>
          </a:xfrm>
          <a:custGeom>
            <a:avLst/>
            <a:gdLst>
              <a:gd name="connsiteX0" fmla="*/ 4050301 w 5497007"/>
              <a:gd name="connsiteY0" fmla="*/ 0 h 5126934"/>
              <a:gd name="connsiteX1" fmla="*/ 5442930 w 5497007"/>
              <a:gd name="connsiteY1" fmla="*/ 245771 h 5126934"/>
              <a:gd name="connsiteX2" fmla="*/ 5497007 w 5497007"/>
              <a:gd name="connsiteY2" fmla="*/ 267093 h 5126934"/>
              <a:gd name="connsiteX3" fmla="*/ 5497007 w 5497007"/>
              <a:gd name="connsiteY3" fmla="*/ 2751634 h 5126934"/>
              <a:gd name="connsiteX4" fmla="*/ 5426522 w 5497007"/>
              <a:gd name="connsiteY4" fmla="*/ 2674081 h 5126934"/>
              <a:gd name="connsiteX5" fmla="*/ 4050301 w 5497007"/>
              <a:gd name="connsiteY5" fmla="*/ 2104031 h 5126934"/>
              <a:gd name="connsiteX6" fmla="*/ 2104031 w 5497007"/>
              <a:gd name="connsiteY6" fmla="*/ 4050301 h 5126934"/>
              <a:gd name="connsiteX7" fmla="*/ 2338936 w 5497007"/>
              <a:gd name="connsiteY7" fmla="*/ 4978009 h 5126934"/>
              <a:gd name="connsiteX8" fmla="*/ 2429410 w 5497007"/>
              <a:gd name="connsiteY8" fmla="*/ 5126934 h 5126934"/>
              <a:gd name="connsiteX9" fmla="*/ 145802 w 5497007"/>
              <a:gd name="connsiteY9" fmla="*/ 5126934 h 5126934"/>
              <a:gd name="connsiteX10" fmla="*/ 127515 w 5497007"/>
              <a:gd name="connsiteY10" fmla="*/ 5062534 h 5126934"/>
              <a:gd name="connsiteX11" fmla="*/ 0 w 5497007"/>
              <a:gd name="connsiteY11" fmla="*/ 4050301 h 5126934"/>
              <a:gd name="connsiteX12" fmla="*/ 4050301 w 5497007"/>
              <a:gd name="connsiteY12" fmla="*/ 0 h 51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97007" h="5126934">
                <a:moveTo>
                  <a:pt x="4050301" y="0"/>
                </a:moveTo>
                <a:cubicBezTo>
                  <a:pt x="4539627" y="0"/>
                  <a:pt x="5008686" y="86773"/>
                  <a:pt x="5442930" y="245771"/>
                </a:cubicBezTo>
                <a:lnTo>
                  <a:pt x="5497007" y="267093"/>
                </a:lnTo>
                <a:lnTo>
                  <a:pt x="5497007" y="2751634"/>
                </a:lnTo>
                <a:lnTo>
                  <a:pt x="5426522" y="2674081"/>
                </a:lnTo>
                <a:cubicBezTo>
                  <a:pt x="5074316" y="2321875"/>
                  <a:pt x="4587749" y="2104031"/>
                  <a:pt x="4050301" y="2104031"/>
                </a:cubicBezTo>
                <a:cubicBezTo>
                  <a:pt x="2975406" y="2104031"/>
                  <a:pt x="2104031" y="2975406"/>
                  <a:pt x="2104031" y="4050301"/>
                </a:cubicBezTo>
                <a:cubicBezTo>
                  <a:pt x="2104031" y="4386206"/>
                  <a:pt x="2189126" y="4702236"/>
                  <a:pt x="2338936" y="4978009"/>
                </a:cubicBezTo>
                <a:lnTo>
                  <a:pt x="2429410" y="5126934"/>
                </a:lnTo>
                <a:lnTo>
                  <a:pt x="145802" y="5126934"/>
                </a:lnTo>
                <a:lnTo>
                  <a:pt x="127515" y="5062534"/>
                </a:lnTo>
                <a:cubicBezTo>
                  <a:pt x="44272" y="4738998"/>
                  <a:pt x="0" y="4399820"/>
                  <a:pt x="0" y="4050301"/>
                </a:cubicBezTo>
                <a:cubicBezTo>
                  <a:pt x="0" y="1813382"/>
                  <a:pt x="1813382" y="0"/>
                  <a:pt x="4050301" y="0"/>
                </a:cubicBezTo>
                <a:close/>
              </a:path>
            </a:pathLst>
          </a:custGeom>
          <a:solidFill>
            <a:srgbClr val="A7EBF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pic>
        <p:nvPicPr>
          <p:cNvPr id="63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10865777" y="5749085"/>
            <a:ext cx="1784373" cy="1784373"/>
          </a:xfrm>
          <a:prstGeom prst="rect">
            <a:avLst/>
          </a:prstGeom>
          <a:ln>
            <a:noFill/>
          </a:ln>
        </p:spPr>
      </p:pic>
      <p:pic>
        <p:nvPicPr>
          <p:cNvPr id="64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10569984" y="5320141"/>
            <a:ext cx="958827" cy="1537859"/>
          </a:xfrm>
          <a:prstGeom prst="rect">
            <a:avLst/>
          </a:prstGeom>
          <a:ln>
            <a:noFill/>
          </a:ln>
        </p:spPr>
      </p:pic>
      <p:sp>
        <p:nvSpPr>
          <p:cNvPr id="16" name="椭圆 15"/>
          <p:cNvSpPr/>
          <p:nvPr>
            <p:custDataLst>
              <p:tags r:id="rId3"/>
            </p:custDataLst>
          </p:nvPr>
        </p:nvSpPr>
        <p:spPr>
          <a:xfrm>
            <a:off x="5517127" y="3123406"/>
            <a:ext cx="611188" cy="611188"/>
          </a:xfrm>
          <a:prstGeom prst="ellipse">
            <a:avLst/>
          </a:prstGeom>
          <a:solidFill>
            <a:srgbClr val="2FA1FA"/>
          </a:solidFill>
          <a:ln>
            <a:noFill/>
          </a:ln>
        </p:spPr>
        <p:style>
          <a:lnRef idx="2">
            <a:srgbClr val="FC4653">
              <a:shade val="50000"/>
            </a:srgbClr>
          </a:lnRef>
          <a:fillRef idx="1">
            <a:srgbClr val="FC4653"/>
          </a:fillRef>
          <a:effectRef idx="0">
            <a:srgbClr val="FC4653"/>
          </a:effectRef>
          <a:fontRef idx="minor">
            <a:sysClr val="window" lastClr="FFFFFF"/>
          </a:fontRef>
        </p:style>
        <p:txBody>
          <a:bodyPr anchor="ctr">
            <a:noAutofit/>
          </a:bodyPr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ea typeface="Arial" panose="020B060402020202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ea typeface="Arial" panose="020B060402020202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ea typeface="Arial" panose="020B060402020202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ea typeface="Arial" panose="020B060402020202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ea typeface="Arial" panose="020B060402020202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ea typeface="Arial" panose="020B060402020202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ea typeface="Arial" panose="020B060402020202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ea typeface="Arial" panose="020B060402020202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ea typeface="Arial" panose="020B0604020202020204"/>
                <a:cs typeface="+mn-cs"/>
              </a:defRPr>
            </a:lvl9pPr>
          </a:lstStyle>
          <a:p/>
        </p:txBody>
      </p:sp>
      <p:sp>
        <p:nvSpPr>
          <p:cNvPr id="19" name="圆角矩形 18"/>
          <p:cNvSpPr/>
          <p:nvPr>
            <p:custDataLst>
              <p:tags r:id="rId4"/>
            </p:custDataLst>
          </p:nvPr>
        </p:nvSpPr>
        <p:spPr>
          <a:xfrm>
            <a:off x="6307131" y="3124200"/>
            <a:ext cx="3775075" cy="609600"/>
          </a:xfrm>
          <a:prstGeom prst="roundRect">
            <a:avLst>
              <a:gd name="adj" fmla="val 50000"/>
            </a:avLst>
          </a:prstGeom>
          <a:solidFill>
            <a:sysClr val="window" lastClr="FFFFFF">
              <a:lumMod val="95000"/>
            </a:sysClr>
          </a:solidFill>
          <a:ln>
            <a:noFill/>
          </a:ln>
        </p:spPr>
        <p:style>
          <a:lnRef idx="2">
            <a:srgbClr val="FC4653">
              <a:shade val="50000"/>
            </a:srgbClr>
          </a:lnRef>
          <a:fillRef idx="1">
            <a:srgbClr val="FC4653"/>
          </a:fillRef>
          <a:effectRef idx="0">
            <a:srgbClr val="FC4653"/>
          </a:effectRef>
          <a:fontRef idx="minor">
            <a:sysClr val="window" lastClr="FFFFFF"/>
          </a:fontRef>
        </p:style>
        <p:txBody>
          <a:bodyPr anchor="ctr">
            <a:noAutofit/>
          </a:bodyPr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ea typeface="Arial" panose="020B060402020202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ea typeface="Arial" panose="020B060402020202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ea typeface="Arial" panose="020B060402020202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ea typeface="Arial" panose="020B060402020202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ea typeface="Arial" panose="020B060402020202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ea typeface="Arial" panose="020B060402020202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ea typeface="Arial" panose="020B060402020202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ea typeface="Arial" panose="020B060402020202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ea typeface="Arial" panose="020B0604020202020204"/>
                <a:cs typeface="+mn-cs"/>
              </a:defRPr>
            </a:lvl9pPr>
          </a:lstStyle>
          <a:p/>
        </p:txBody>
      </p:sp>
      <p:sp>
        <p:nvSpPr>
          <p:cNvPr id="21" name="文本框 19"/>
          <p:cNvSpPr txBox="1">
            <a:spLocks noChangeArrowheads="1"/>
          </p:cNvSpPr>
          <p:nvPr>
            <p:custDataLst>
              <p:tags r:id="rId5"/>
            </p:custDataLst>
          </p:nvPr>
        </p:nvSpPr>
        <p:spPr>
          <a:xfrm>
            <a:off x="6674949" y="3154363"/>
            <a:ext cx="3200438" cy="549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800" spc="15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宋体" panose="02010600030101010101" pitchFamily="2" charset="-122"/>
                <a:ea typeface="微软雅黑" panose="020B0503020204020204" charset="-122"/>
                <a:sym typeface="宋体" panose="02010600030101010101" pitchFamily="2" charset="-122"/>
              </a:rPr>
              <a:t>实习答辩内容概述</a:t>
            </a:r>
            <a:endParaRPr lang="zh-CN" altLang="en-US" sz="1800" spc="150">
              <a:solidFill>
                <a:sysClr val="windowText" lastClr="000000">
                  <a:lumMod val="75000"/>
                  <a:lumOff val="25000"/>
                </a:sysClr>
              </a:solidFill>
              <a:latin typeface="宋体" panose="02010600030101010101" pitchFamily="2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23" name="文本框 21"/>
          <p:cNvSpPr txBox="1">
            <a:spLocks noChangeArrowheads="1"/>
          </p:cNvSpPr>
          <p:nvPr>
            <p:custDataLst>
              <p:tags r:id="rId6"/>
            </p:custDataLst>
          </p:nvPr>
        </p:nvSpPr>
        <p:spPr>
          <a:xfrm>
            <a:off x="5604974" y="3254534"/>
            <a:ext cx="522605" cy="348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normAutofit fontScale="87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zh-CN" sz="1800" b="1">
                <a:solidFill>
                  <a:sysClr val="window" lastClr="FFFFFF"/>
                </a:solidFill>
                <a:latin typeface="宋体" panose="02010600030101010101" pitchFamily="2" charset="-122"/>
                <a:ea typeface="微软雅黑" panose="020B0503020204020204" charset="-122"/>
                <a:sym typeface="宋体" panose="02010600030101010101" pitchFamily="2" charset="-122"/>
              </a:rPr>
              <a:t>01</a:t>
            </a:r>
            <a:endParaRPr lang="zh-CN" altLang="en-US" sz="1800" b="1">
              <a:solidFill>
                <a:sysClr val="window" lastClr="FFFFFF"/>
              </a:solidFill>
              <a:latin typeface="宋体" panose="02010600030101010101" pitchFamily="2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49" name="文本框 4"/>
          <p:cNvSpPr txBox="1">
            <a:spLocks noChangeArrowheads="1"/>
          </p:cNvSpPr>
          <p:nvPr>
            <p:custDataLst>
              <p:tags r:id="rId7"/>
            </p:custDataLst>
          </p:nvPr>
        </p:nvSpPr>
        <p:spPr>
          <a:xfrm>
            <a:off x="2230105" y="2697386"/>
            <a:ext cx="2226982" cy="700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defRPr>
            </a:lvl9pPr>
          </a:lstStyle>
          <a:p>
            <a:pPr algn="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3600" b="1" spc="300">
                <a:solidFill>
                  <a:srgbClr val="000000"/>
                </a:solidFill>
                <a:latin typeface="宋体" panose="02010600030101010101" pitchFamily="2" charset="-122"/>
                <a:ea typeface="微软雅黑" panose="020B0503020204020204" charset="-122"/>
                <a:cs typeface="+mn-ea"/>
                <a:sym typeface="宋体" panose="02010600030101010101" pitchFamily="2" charset="-122"/>
              </a:rPr>
              <a:t>目录</a:t>
            </a:r>
            <a:endParaRPr lang="zh-CN" altLang="en-US" sz="3600" b="1" spc="300">
              <a:solidFill>
                <a:srgbClr val="000000"/>
              </a:solidFill>
              <a:latin typeface="宋体" panose="02010600030101010101" pitchFamily="2" charset="-122"/>
              <a:ea typeface="微软雅黑" panose="020B0503020204020204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59" name="文本框 5"/>
          <p:cNvSpPr txBox="1">
            <a:spLocks noChangeArrowheads="1"/>
          </p:cNvSpPr>
          <p:nvPr>
            <p:custDataLst>
              <p:tags r:id="rId8"/>
            </p:custDataLst>
          </p:nvPr>
        </p:nvSpPr>
        <p:spPr>
          <a:xfrm>
            <a:off x="1777430" y="3410030"/>
            <a:ext cx="2679657" cy="696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defRPr>
            </a:lvl9pPr>
          </a:lstStyle>
          <a:p>
            <a:pPr algn="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zh-CN" sz="3600" b="1" spc="300">
                <a:solidFill>
                  <a:srgbClr val="000000"/>
                </a:solidFill>
                <a:latin typeface="宋体" panose="02010600030101010101" pitchFamily="2" charset="-122"/>
                <a:ea typeface="微软雅黑" panose="020B0503020204020204" charset="-122"/>
                <a:sym typeface="宋体" panose="02010600030101010101" pitchFamily="2" charset="-122"/>
              </a:rPr>
              <a:t>Content</a:t>
            </a:r>
            <a:endParaRPr lang="zh-CN" altLang="zh-CN" sz="3600" b="1" spc="300">
              <a:solidFill>
                <a:srgbClr val="000000"/>
              </a:solidFill>
              <a:latin typeface="宋体" panose="02010600030101010101" pitchFamily="2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cxnSp>
        <p:nvCxnSpPr>
          <p:cNvPr id="3" name="直接连接符 2"/>
          <p:cNvCxnSpPr/>
          <p:nvPr>
            <p:custDataLst>
              <p:tags r:id="rId9"/>
            </p:custDataLst>
          </p:nvPr>
        </p:nvCxnSpPr>
        <p:spPr>
          <a:xfrm flipH="1">
            <a:off x="4638996" y="2889330"/>
            <a:ext cx="0" cy="1009650"/>
          </a:xfrm>
          <a:prstGeom prst="line">
            <a:avLst/>
          </a:prstGeom>
          <a:ln w="25400"/>
        </p:spPr>
        <p:style>
          <a:lnRef idx="1">
            <a:srgbClr val="FC4653"/>
          </a:lnRef>
          <a:fillRef idx="0">
            <a:srgbClr val="FC4653"/>
          </a:fillRef>
          <a:effectRef idx="0">
            <a:srgbClr val="FC4653"/>
          </a:effectRef>
          <a:fontRef idx="minor">
            <a:sysClr val="windowText" lastClr="000000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>
              <a:alphaModFix amt="16000"/>
            </a:blip>
            <a:stretch>
              <a:fillRect t="-9321" b="-9321"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7" name="文本框 6"/>
          <p:cNvSpPr txBox="1"/>
          <p:nvPr/>
        </p:nvSpPr>
        <p:spPr>
          <a:xfrm>
            <a:off x="5086600" y="1932162"/>
            <a:ext cx="2044203" cy="1311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sz="8000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cs typeface="+mn-ea"/>
                <a:sym typeface="宋体" panose="02010600030101010101" pitchFamily="2" charset="-122"/>
              </a:rPr>
              <a:t>1</a:t>
            </a:r>
            <a:endParaRPr lang="zh-CN" altLang="zh-CN" sz="8000" b="1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8" name="矩形 60"/>
          <p:cNvSpPr/>
          <p:nvPr/>
        </p:nvSpPr>
        <p:spPr>
          <a:xfrm>
            <a:off x="2288534" y="3369484"/>
            <a:ext cx="7640333" cy="110744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defPPr>
              <a:defRPr lang="zh-CN"/>
            </a:defPPr>
            <a:lvl1pPr marL="342900" indent="-3429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2"/>
                </a:solidFill>
                <a:latin typeface="+mn-lt"/>
                <a:ea typeface="仿宋_GB2312" pitchFamily="49" charset="-122"/>
                <a:cs typeface="+mn-cs"/>
              </a:defRPr>
            </a:lvl2pPr>
            <a:lvl3pPr marL="1143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zh-CN" sz="7200" b="1">
                <a:solidFill>
                  <a:srgbClr val="3C49FF"/>
                </a:solidFill>
                <a:latin typeface="宋体" panose="02010600030101010101" pitchFamily="2" charset="-122"/>
                <a:cs typeface="+mn-ea"/>
                <a:sym typeface="宋体" panose="02010600030101010101" pitchFamily="2" charset="-122"/>
              </a:rPr>
              <a:t>内容概述</a:t>
            </a:r>
            <a:endParaRPr lang="zh-CN" altLang="zh-CN" sz="7200" b="1">
              <a:solidFill>
                <a:srgbClr val="3C49FF"/>
              </a:solidFill>
              <a:latin typeface="宋体" panose="02010600030101010101" pitchFamily="2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20" name="任意形状 1"/>
          <p:cNvSpPr/>
          <p:nvPr/>
        </p:nvSpPr>
        <p:spPr>
          <a:xfrm rot="10800000">
            <a:off x="0" y="5451230"/>
            <a:ext cx="12192000" cy="1406769"/>
          </a:xfrm>
          <a:custGeom>
            <a:avLst/>
            <a:gdLst>
              <a:gd name="connsiteX0" fmla="*/ 0 w 12192000"/>
              <a:gd name="connsiteY0" fmla="*/ 0 h 5230907"/>
              <a:gd name="connsiteX1" fmla="*/ 12192000 w 12192000"/>
              <a:gd name="connsiteY1" fmla="*/ 0 h 5230907"/>
              <a:gd name="connsiteX2" fmla="*/ 12192000 w 12192000"/>
              <a:gd name="connsiteY2" fmla="*/ 2825633 h 5230907"/>
              <a:gd name="connsiteX3" fmla="*/ 12176719 w 12192000"/>
              <a:gd name="connsiteY3" fmla="*/ 2846722 h 5230907"/>
              <a:gd name="connsiteX4" fmla="*/ 6096000 w 12192000"/>
              <a:gd name="connsiteY4" fmla="*/ 5230907 h 5230907"/>
              <a:gd name="connsiteX5" fmla="*/ 15281 w 12192000"/>
              <a:gd name="connsiteY5" fmla="*/ 2846722 h 5230907"/>
              <a:gd name="connsiteX6" fmla="*/ 0 w 12192000"/>
              <a:gd name="connsiteY6" fmla="*/ 2825633 h 5230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230907">
                <a:moveTo>
                  <a:pt x="0" y="0"/>
                </a:moveTo>
                <a:lnTo>
                  <a:pt x="12192000" y="0"/>
                </a:lnTo>
                <a:lnTo>
                  <a:pt x="12192000" y="2825633"/>
                </a:lnTo>
                <a:lnTo>
                  <a:pt x="12176719" y="2846722"/>
                </a:lnTo>
                <a:cubicBezTo>
                  <a:pt x="11087245" y="4257422"/>
                  <a:pt x="8773833" y="5230907"/>
                  <a:pt x="6096000" y="5230907"/>
                </a:cubicBezTo>
                <a:cubicBezTo>
                  <a:pt x="3418167" y="5230907"/>
                  <a:pt x="1104755" y="4257422"/>
                  <a:pt x="15281" y="2846722"/>
                </a:cubicBezTo>
                <a:lnTo>
                  <a:pt x="0" y="2825633"/>
                </a:lnTo>
                <a:close/>
              </a:path>
            </a:pathLst>
          </a:custGeom>
          <a:gradFill>
            <a:gsLst>
              <a:gs pos="30000">
                <a:srgbClr val="2FA1FA"/>
              </a:gs>
              <a:gs pos="100000">
                <a:srgbClr val="A7EBFC"/>
              </a:gs>
            </a:gsLst>
            <a:lin ang="7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88" y="368489"/>
            <a:ext cx="1067658" cy="106765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9748" y="4055482"/>
            <a:ext cx="1680971" cy="1680971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4836" y="783842"/>
            <a:ext cx="600262" cy="6002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220561" y="453510"/>
            <a:ext cx="10479741" cy="72742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zh-CN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思源黑体 CN Normal" panose="020B0400000000000000" pitchFamily="34" charset="-122"/>
                <a:cs typeface="+mn-ea"/>
                <a:sym typeface="宋体" panose="02010600030101010101" pitchFamily="2" charset="-122"/>
              </a:rPr>
              <a:t>内容概述</a:t>
            </a:r>
            <a:endParaRPr lang="zh-CN" altLang="zh-CN" sz="2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思源黑体 CN Normal" panose="020B0400000000000000" pitchFamily="34" charset="-122"/>
              <a:cs typeface="+mn-ea"/>
              <a:sym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698" y="453510"/>
            <a:ext cx="490941" cy="787419"/>
          </a:xfrm>
          <a:prstGeom prst="rect">
            <a:avLst/>
          </a:prstGeom>
        </p:spPr>
      </p:pic>
      <p:sp>
        <p:nvSpPr>
          <p:cNvPr id="2" name="Freeform: Shape 108" descr="e7d195523061f1c0c2b73831c94a3edc981f60e396d3e182073EE1468018468A7F192AE5E5CD515B6C3125F8AF6E4EE646174E8CF0B46FD19828DCE8CDA3B3A044A74F0E769C5FA8CB87AB6FC303C8BA3785FAC64AF5424764E128FECAE4CC72932BB65C8C121A0F41C1707D94688ED66335DC6AE12288BF2055523C0C26863D2CD4AC454A29EEC183CEF0375334B579"/>
          <p:cNvSpPr/>
          <p:nvPr/>
        </p:nvSpPr>
        <p:spPr>
          <a:xfrm rot="16200000">
            <a:off x="10426914" y="7729"/>
            <a:ext cx="1772817" cy="1757355"/>
          </a:xfrm>
          <a:custGeom>
            <a:avLst/>
            <a:gdLst>
              <a:gd name="connsiteX0" fmla="*/ 4050301 w 5497007"/>
              <a:gd name="connsiteY0" fmla="*/ 0 h 5126934"/>
              <a:gd name="connsiteX1" fmla="*/ 5442930 w 5497007"/>
              <a:gd name="connsiteY1" fmla="*/ 245771 h 5126934"/>
              <a:gd name="connsiteX2" fmla="*/ 5497007 w 5497007"/>
              <a:gd name="connsiteY2" fmla="*/ 267093 h 5126934"/>
              <a:gd name="connsiteX3" fmla="*/ 5497007 w 5497007"/>
              <a:gd name="connsiteY3" fmla="*/ 2751634 h 5126934"/>
              <a:gd name="connsiteX4" fmla="*/ 5426522 w 5497007"/>
              <a:gd name="connsiteY4" fmla="*/ 2674081 h 5126934"/>
              <a:gd name="connsiteX5" fmla="*/ 4050301 w 5497007"/>
              <a:gd name="connsiteY5" fmla="*/ 2104031 h 5126934"/>
              <a:gd name="connsiteX6" fmla="*/ 2104031 w 5497007"/>
              <a:gd name="connsiteY6" fmla="*/ 4050301 h 5126934"/>
              <a:gd name="connsiteX7" fmla="*/ 2338936 w 5497007"/>
              <a:gd name="connsiteY7" fmla="*/ 4978009 h 5126934"/>
              <a:gd name="connsiteX8" fmla="*/ 2429410 w 5497007"/>
              <a:gd name="connsiteY8" fmla="*/ 5126934 h 5126934"/>
              <a:gd name="connsiteX9" fmla="*/ 145802 w 5497007"/>
              <a:gd name="connsiteY9" fmla="*/ 5126934 h 5126934"/>
              <a:gd name="connsiteX10" fmla="*/ 127515 w 5497007"/>
              <a:gd name="connsiteY10" fmla="*/ 5062534 h 5126934"/>
              <a:gd name="connsiteX11" fmla="*/ 0 w 5497007"/>
              <a:gd name="connsiteY11" fmla="*/ 4050301 h 5126934"/>
              <a:gd name="connsiteX12" fmla="*/ 4050301 w 5497007"/>
              <a:gd name="connsiteY12" fmla="*/ 0 h 51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97007" h="5126934">
                <a:moveTo>
                  <a:pt x="4050301" y="0"/>
                </a:moveTo>
                <a:cubicBezTo>
                  <a:pt x="4539627" y="0"/>
                  <a:pt x="5008686" y="86773"/>
                  <a:pt x="5442930" y="245771"/>
                </a:cubicBezTo>
                <a:lnTo>
                  <a:pt x="5497007" y="267093"/>
                </a:lnTo>
                <a:lnTo>
                  <a:pt x="5497007" y="2751634"/>
                </a:lnTo>
                <a:lnTo>
                  <a:pt x="5426522" y="2674081"/>
                </a:lnTo>
                <a:cubicBezTo>
                  <a:pt x="5074316" y="2321875"/>
                  <a:pt x="4587749" y="2104031"/>
                  <a:pt x="4050301" y="2104031"/>
                </a:cubicBezTo>
                <a:cubicBezTo>
                  <a:pt x="2975406" y="2104031"/>
                  <a:pt x="2104031" y="2975406"/>
                  <a:pt x="2104031" y="4050301"/>
                </a:cubicBezTo>
                <a:cubicBezTo>
                  <a:pt x="2104031" y="4386206"/>
                  <a:pt x="2189126" y="4702236"/>
                  <a:pt x="2338936" y="4978009"/>
                </a:cubicBezTo>
                <a:lnTo>
                  <a:pt x="2429410" y="5126934"/>
                </a:lnTo>
                <a:lnTo>
                  <a:pt x="145802" y="5126934"/>
                </a:lnTo>
                <a:lnTo>
                  <a:pt x="127515" y="5062534"/>
                </a:lnTo>
                <a:cubicBezTo>
                  <a:pt x="44272" y="4738998"/>
                  <a:pt x="0" y="4399820"/>
                  <a:pt x="0" y="4050301"/>
                </a:cubicBezTo>
                <a:cubicBezTo>
                  <a:pt x="0" y="1813382"/>
                  <a:pt x="1813382" y="0"/>
                  <a:pt x="4050301" y="0"/>
                </a:cubicBezTo>
                <a:close/>
              </a:path>
            </a:pathLst>
          </a:custGeom>
          <a:solidFill>
            <a:srgbClr val="A7EBF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/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5777" y="5749085"/>
            <a:ext cx="1784373" cy="178437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9984" y="5320141"/>
            <a:ext cx="958827" cy="1537859"/>
          </a:xfrm>
          <a:prstGeom prst="rect">
            <a:avLst/>
          </a:prstGeom>
        </p:spPr>
      </p:pic>
      <p:sp>
        <p:nvSpPr>
          <p:cNvPr id="8" name="New shape"/>
          <p:cNvSpPr/>
          <p:nvPr/>
        </p:nvSpPr>
        <p:spPr>
          <a:xfrm rot="5400000">
            <a:off x="1117600" y="3898900"/>
            <a:ext cx="330200" cy="330200"/>
          </a:xfrm>
          <a:prstGeom prst="triangle">
            <a:avLst/>
          </a:prstGeom>
          <a:solidFill>
            <a:srgbClr val="2FA1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New shape"/>
          <p:cNvSpPr/>
          <p:nvPr/>
        </p:nvSpPr>
        <p:spPr>
          <a:xfrm rot="5400000">
            <a:off x="1117600" y="4368800"/>
            <a:ext cx="330200" cy="330200"/>
          </a:xfrm>
          <a:prstGeom prst="triangle">
            <a:avLst/>
          </a:prstGeom>
          <a:solidFill>
            <a:srgbClr val="2FA1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New shape"/>
          <p:cNvSpPr/>
          <p:nvPr/>
        </p:nvSpPr>
        <p:spPr>
          <a:xfrm rot="5400000">
            <a:off x="1117600" y="5181600"/>
            <a:ext cx="330200" cy="330200"/>
          </a:xfrm>
          <a:prstGeom prst="triangle">
            <a:avLst/>
          </a:prstGeom>
          <a:solidFill>
            <a:srgbClr val="2FA1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New 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8318500" y="1714500"/>
            <a:ext cx="1905000" cy="41148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</p:pic>
      <p:sp>
        <p:nvSpPr>
          <p:cNvPr id="12" name="New shape"/>
          <p:cNvSpPr/>
          <p:nvPr/>
        </p:nvSpPr>
        <p:spPr>
          <a:xfrm>
            <a:off x="1117600" y="1701800"/>
            <a:ext cx="6146800" cy="2667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85000" lnSpcReduction="20000"/>
          </a:bodyPr>
          <a:lstStyle/>
          <a:p>
            <a:pPr indent="0" algn="l">
              <a:lnSpc>
                <a:spcPct val="100000"/>
              </a:lnSpc>
            </a:pPr>
            <a:r>
              <a:rPr sz="2500" b="0">
                <a:solidFill>
                  <a:srgbClr val="000000"/>
                </a:solidFill>
                <a:latin typeface="宋体" panose="02010600030101010101" pitchFamily="2" charset="-122"/>
              </a:rPr>
              <a:t>一、背景介绍</a:t>
            </a:r>
            <a:endParaRPr sz="25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3" name="New shape"/>
          <p:cNvSpPr/>
          <p:nvPr/>
        </p:nvSpPr>
        <p:spPr>
          <a:xfrm>
            <a:off x="1117600" y="2146300"/>
            <a:ext cx="6146800" cy="10287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本次实习答辩的主题为科技公司实习经历及成果展示。旨在汇报实习期间的学习成果、项目实践、团队协作及对公司业务的认知等方面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New shape"/>
          <p:cNvSpPr/>
          <p:nvPr/>
        </p:nvSpPr>
        <p:spPr>
          <a:xfrm>
            <a:off x="1117600" y="3365500"/>
            <a:ext cx="6146800" cy="2667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85000" lnSpcReduction="20000"/>
          </a:bodyPr>
          <a:lstStyle/>
          <a:p>
            <a:pPr indent="0" algn="l">
              <a:lnSpc>
                <a:spcPct val="100000"/>
              </a:lnSpc>
            </a:pPr>
            <a:r>
              <a:rPr sz="2500" b="0">
                <a:solidFill>
                  <a:srgbClr val="000000"/>
                </a:solidFill>
                <a:latin typeface="宋体" panose="02010600030101010101" pitchFamily="2" charset="-122"/>
              </a:rPr>
              <a:t>二、实习经历</a:t>
            </a:r>
            <a:endParaRPr sz="25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New shape"/>
          <p:cNvSpPr/>
          <p:nvPr/>
        </p:nvSpPr>
        <p:spPr>
          <a:xfrm>
            <a:off x="1524000" y="3873500"/>
            <a:ext cx="5740400" cy="3302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实习时间：</a:t>
            </a:r>
            <a:r>
              <a:rPr lang="en-US" sz="2100" b="0">
                <a:solidFill>
                  <a:srgbClr val="000000"/>
                </a:solidFill>
                <a:latin typeface="宋体" panose="02010600030101010101" pitchFamily="2" charset="-122"/>
              </a:rPr>
              <a:t>2023</a:t>
            </a:r>
            <a:r>
              <a:rPr lang="zh-CN" altLang="en-US" sz="2100" b="0">
                <a:solidFill>
                  <a:srgbClr val="000000"/>
                </a:solidFill>
                <a:latin typeface="宋体" panose="02010600030101010101" pitchFamily="2" charset="-122"/>
              </a:rPr>
              <a:t>年</a:t>
            </a:r>
            <a:r>
              <a:rPr lang="en-US" altLang="zh-CN" sz="2100" b="0">
                <a:solidFill>
                  <a:srgbClr val="000000"/>
                </a:solidFill>
                <a:latin typeface="宋体" panose="02010600030101010101" pitchFamily="2" charset="-122"/>
              </a:rPr>
              <a:t>9</a:t>
            </a: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月—至今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6" name="New shape"/>
          <p:cNvSpPr/>
          <p:nvPr/>
        </p:nvSpPr>
        <p:spPr>
          <a:xfrm>
            <a:off x="1524000" y="4343400"/>
            <a:ext cx="5740400" cy="6604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主要工作内容：参与多个项目，涉及技术研发、产品优化等方面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7" name="New shape"/>
          <p:cNvSpPr/>
          <p:nvPr/>
        </p:nvSpPr>
        <p:spPr>
          <a:xfrm>
            <a:off x="1524000" y="5156200"/>
            <a:ext cx="5740400" cy="6604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学习收获：深入了解公司业务，掌握行业前沿技术，提升项目管理和团队协作能力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30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500"/>
                            </p:stCondLst>
                            <p:childTnLst>
                              <p:par>
                                <p:cTn id="40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500"/>
                            </p:stCondLst>
                            <p:childTnLst>
                              <p:par>
                                <p:cTn id="50" presetID="23" presetClass="entr" presetSubtype="16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000"/>
                            </p:stCondLst>
                            <p:childTnLst>
                              <p:par>
                                <p:cTn id="55" presetID="23" presetClass="entr" presetSubtype="16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1" animBg="1"/>
      <p:bldP spid="9" grpId="2" animBg="1"/>
      <p:bldP spid="10" grpId="3" animBg="1"/>
      <p:bldP spid="11" grpId="4" animBg="1"/>
      <p:bldP spid="12" grpId="5" animBg="1"/>
      <p:bldP spid="13" grpId="6" animBg="1"/>
      <p:bldP spid="14" grpId="7" animBg="1"/>
      <p:bldP spid="15" grpId="8" animBg="1"/>
      <p:bldP spid="16" grpId="9" animBg="1"/>
      <p:bldP spid="17" grpId="1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220561" y="453510"/>
            <a:ext cx="10479741" cy="72742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zh-CN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思源黑体 CN Normal" panose="020B0400000000000000" pitchFamily="34" charset="-122"/>
                <a:cs typeface="+mn-ea"/>
                <a:sym typeface="宋体" panose="02010600030101010101" pitchFamily="2" charset="-122"/>
              </a:rPr>
              <a:t>实习答辩内容概述</a:t>
            </a:r>
            <a:endParaRPr lang="zh-CN" altLang="zh-CN" sz="2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思源黑体 CN Normal" panose="020B0400000000000000" pitchFamily="34" charset="-122"/>
              <a:cs typeface="+mn-ea"/>
              <a:sym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698" y="453510"/>
            <a:ext cx="490941" cy="787419"/>
          </a:xfrm>
          <a:prstGeom prst="rect">
            <a:avLst/>
          </a:prstGeom>
        </p:spPr>
      </p:pic>
      <p:sp>
        <p:nvSpPr>
          <p:cNvPr id="2" name="Freeform: Shape 108" descr="e7d195523061f1c0c2b73831c94a3edc981f60e396d3e182073EE1468018468A7F192AE5E5CD515B6C3125F8AF6E4EE646174E8CF0B46FD19828DCE8CDA3B3A044A74F0E769C5FA8CB87AB6FC303C8BA3785FAC64AF5424764E128FECAE4CC72932BB65C8C121A0F41C1707D94688ED66335DC6AE12288BF2055523C0C26863D2CD4AC454A29EEC183CEF0375334B579"/>
          <p:cNvSpPr/>
          <p:nvPr/>
        </p:nvSpPr>
        <p:spPr>
          <a:xfrm rot="16200000">
            <a:off x="10426914" y="7729"/>
            <a:ext cx="1772817" cy="1757355"/>
          </a:xfrm>
          <a:custGeom>
            <a:avLst/>
            <a:gdLst>
              <a:gd name="connsiteX0" fmla="*/ 4050301 w 5497007"/>
              <a:gd name="connsiteY0" fmla="*/ 0 h 5126934"/>
              <a:gd name="connsiteX1" fmla="*/ 5442930 w 5497007"/>
              <a:gd name="connsiteY1" fmla="*/ 245771 h 5126934"/>
              <a:gd name="connsiteX2" fmla="*/ 5497007 w 5497007"/>
              <a:gd name="connsiteY2" fmla="*/ 267093 h 5126934"/>
              <a:gd name="connsiteX3" fmla="*/ 5497007 w 5497007"/>
              <a:gd name="connsiteY3" fmla="*/ 2751634 h 5126934"/>
              <a:gd name="connsiteX4" fmla="*/ 5426522 w 5497007"/>
              <a:gd name="connsiteY4" fmla="*/ 2674081 h 5126934"/>
              <a:gd name="connsiteX5" fmla="*/ 4050301 w 5497007"/>
              <a:gd name="connsiteY5" fmla="*/ 2104031 h 5126934"/>
              <a:gd name="connsiteX6" fmla="*/ 2104031 w 5497007"/>
              <a:gd name="connsiteY6" fmla="*/ 4050301 h 5126934"/>
              <a:gd name="connsiteX7" fmla="*/ 2338936 w 5497007"/>
              <a:gd name="connsiteY7" fmla="*/ 4978009 h 5126934"/>
              <a:gd name="connsiteX8" fmla="*/ 2429410 w 5497007"/>
              <a:gd name="connsiteY8" fmla="*/ 5126934 h 5126934"/>
              <a:gd name="connsiteX9" fmla="*/ 145802 w 5497007"/>
              <a:gd name="connsiteY9" fmla="*/ 5126934 h 5126934"/>
              <a:gd name="connsiteX10" fmla="*/ 127515 w 5497007"/>
              <a:gd name="connsiteY10" fmla="*/ 5062534 h 5126934"/>
              <a:gd name="connsiteX11" fmla="*/ 0 w 5497007"/>
              <a:gd name="connsiteY11" fmla="*/ 4050301 h 5126934"/>
              <a:gd name="connsiteX12" fmla="*/ 4050301 w 5497007"/>
              <a:gd name="connsiteY12" fmla="*/ 0 h 51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97007" h="5126934">
                <a:moveTo>
                  <a:pt x="4050301" y="0"/>
                </a:moveTo>
                <a:cubicBezTo>
                  <a:pt x="4539627" y="0"/>
                  <a:pt x="5008686" y="86773"/>
                  <a:pt x="5442930" y="245771"/>
                </a:cubicBezTo>
                <a:lnTo>
                  <a:pt x="5497007" y="267093"/>
                </a:lnTo>
                <a:lnTo>
                  <a:pt x="5497007" y="2751634"/>
                </a:lnTo>
                <a:lnTo>
                  <a:pt x="5426522" y="2674081"/>
                </a:lnTo>
                <a:cubicBezTo>
                  <a:pt x="5074316" y="2321875"/>
                  <a:pt x="4587749" y="2104031"/>
                  <a:pt x="4050301" y="2104031"/>
                </a:cubicBezTo>
                <a:cubicBezTo>
                  <a:pt x="2975406" y="2104031"/>
                  <a:pt x="2104031" y="2975406"/>
                  <a:pt x="2104031" y="4050301"/>
                </a:cubicBezTo>
                <a:cubicBezTo>
                  <a:pt x="2104031" y="4386206"/>
                  <a:pt x="2189126" y="4702236"/>
                  <a:pt x="2338936" y="4978009"/>
                </a:cubicBezTo>
                <a:lnTo>
                  <a:pt x="2429410" y="5126934"/>
                </a:lnTo>
                <a:lnTo>
                  <a:pt x="145802" y="5126934"/>
                </a:lnTo>
                <a:lnTo>
                  <a:pt x="127515" y="5062534"/>
                </a:lnTo>
                <a:cubicBezTo>
                  <a:pt x="44272" y="4738998"/>
                  <a:pt x="0" y="4399820"/>
                  <a:pt x="0" y="4050301"/>
                </a:cubicBezTo>
                <a:cubicBezTo>
                  <a:pt x="0" y="1813382"/>
                  <a:pt x="1813382" y="0"/>
                  <a:pt x="4050301" y="0"/>
                </a:cubicBezTo>
                <a:close/>
              </a:path>
            </a:pathLst>
          </a:custGeom>
          <a:solidFill>
            <a:srgbClr val="A7EBF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/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5777" y="5749085"/>
            <a:ext cx="1784373" cy="178437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9984" y="5320141"/>
            <a:ext cx="958827" cy="1537859"/>
          </a:xfrm>
          <a:prstGeom prst="rect">
            <a:avLst/>
          </a:prstGeom>
        </p:spPr>
      </p:pic>
      <p:sp>
        <p:nvSpPr>
          <p:cNvPr id="8" name="New shape"/>
          <p:cNvSpPr/>
          <p:nvPr/>
        </p:nvSpPr>
        <p:spPr>
          <a:xfrm rot="5400000">
            <a:off x="1117600" y="2006600"/>
            <a:ext cx="330200" cy="330200"/>
          </a:xfrm>
          <a:prstGeom prst="triangle">
            <a:avLst/>
          </a:prstGeom>
          <a:solidFill>
            <a:srgbClr val="2FA1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New shape"/>
          <p:cNvSpPr/>
          <p:nvPr/>
        </p:nvSpPr>
        <p:spPr>
          <a:xfrm rot="5400000">
            <a:off x="1117600" y="2476500"/>
            <a:ext cx="330200" cy="330200"/>
          </a:xfrm>
          <a:prstGeom prst="triangle">
            <a:avLst/>
          </a:prstGeom>
          <a:solidFill>
            <a:srgbClr val="2FA1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New shape"/>
          <p:cNvSpPr/>
          <p:nvPr/>
        </p:nvSpPr>
        <p:spPr>
          <a:xfrm rot="5400000">
            <a:off x="1117600" y="2946400"/>
            <a:ext cx="330200" cy="330200"/>
          </a:xfrm>
          <a:prstGeom prst="triangle">
            <a:avLst/>
          </a:prstGeom>
          <a:solidFill>
            <a:srgbClr val="2FA1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New shape"/>
          <p:cNvSpPr/>
          <p:nvPr/>
        </p:nvSpPr>
        <p:spPr>
          <a:xfrm rot="5400000">
            <a:off x="1117600" y="3439160"/>
            <a:ext cx="330200" cy="330200"/>
          </a:xfrm>
          <a:prstGeom prst="triangle">
            <a:avLst/>
          </a:prstGeom>
          <a:solidFill>
            <a:srgbClr val="2FA1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New shape"/>
          <p:cNvSpPr/>
          <p:nvPr/>
        </p:nvSpPr>
        <p:spPr>
          <a:xfrm rot="5400000">
            <a:off x="1117600" y="4356100"/>
            <a:ext cx="330200" cy="330200"/>
          </a:xfrm>
          <a:prstGeom prst="triangle">
            <a:avLst/>
          </a:prstGeom>
          <a:solidFill>
            <a:srgbClr val="2FA1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New shape"/>
          <p:cNvSpPr/>
          <p:nvPr/>
        </p:nvSpPr>
        <p:spPr>
          <a:xfrm rot="5400000">
            <a:off x="1117600" y="4826000"/>
            <a:ext cx="330200" cy="330200"/>
          </a:xfrm>
          <a:prstGeom prst="triangle">
            <a:avLst/>
          </a:prstGeom>
          <a:solidFill>
            <a:srgbClr val="2FA1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New shape"/>
          <p:cNvSpPr/>
          <p:nvPr/>
        </p:nvSpPr>
        <p:spPr>
          <a:xfrm>
            <a:off x="1117600" y="1473200"/>
            <a:ext cx="9956800" cy="2667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75000" lnSpcReduction="20000"/>
          </a:bodyPr>
          <a:lstStyle/>
          <a:p>
            <a:pPr indent="0" algn="l">
              <a:lnSpc>
                <a:spcPct val="100000"/>
              </a:lnSpc>
            </a:pPr>
            <a:r>
              <a:rPr sz="2500" b="0">
                <a:solidFill>
                  <a:srgbClr val="000000"/>
                </a:solidFill>
                <a:latin typeface="宋体" panose="02010600030101010101" pitchFamily="2" charset="-122"/>
              </a:rPr>
              <a:t>三、项目实践</a:t>
            </a:r>
            <a:endParaRPr sz="25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8" name="New shape"/>
          <p:cNvSpPr/>
          <p:nvPr/>
        </p:nvSpPr>
        <p:spPr>
          <a:xfrm>
            <a:off x="1524000" y="1981200"/>
            <a:ext cx="9550400" cy="3302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项目一：</a:t>
            </a:r>
            <a:r>
              <a:rPr lang="zh-CN" sz="2100" b="0">
                <a:solidFill>
                  <a:srgbClr val="000000"/>
                </a:solidFill>
                <a:latin typeface="宋体" panose="02010600030101010101" pitchFamily="2" charset="-122"/>
              </a:rPr>
              <a:t>展会调查问卷</a:t>
            </a:r>
            <a:r>
              <a:rPr lang="zh-CN" sz="2100" b="0">
                <a:solidFill>
                  <a:srgbClr val="000000"/>
                </a:solidFill>
                <a:latin typeface="宋体" panose="02010600030101010101" pitchFamily="2" charset="-122"/>
              </a:rPr>
              <a:t>页面</a:t>
            </a:r>
            <a:endParaRPr lang="zh-CN"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9" name="New shape"/>
          <p:cNvSpPr/>
          <p:nvPr/>
        </p:nvSpPr>
        <p:spPr>
          <a:xfrm>
            <a:off x="1524000" y="2451100"/>
            <a:ext cx="9550400" cy="3302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项目背景：</a:t>
            </a:r>
            <a:r>
              <a:rPr lang="zh-CN" sz="2100" b="0">
                <a:solidFill>
                  <a:srgbClr val="000000"/>
                </a:solidFill>
                <a:latin typeface="宋体" panose="02010600030101010101" pitchFamily="2" charset="-122"/>
              </a:rPr>
              <a:t>对某次展会需要使用的调查问卷页面的</a:t>
            </a:r>
            <a:r>
              <a:rPr lang="zh-CN" sz="2100" b="0">
                <a:solidFill>
                  <a:srgbClr val="000000"/>
                </a:solidFill>
                <a:latin typeface="宋体" panose="02010600030101010101" pitchFamily="2" charset="-122"/>
              </a:rPr>
              <a:t>开发</a:t>
            </a:r>
            <a:endParaRPr lang="zh-CN"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0" name="New shape"/>
          <p:cNvSpPr/>
          <p:nvPr/>
        </p:nvSpPr>
        <p:spPr>
          <a:xfrm>
            <a:off x="1524000" y="2921000"/>
            <a:ext cx="9550400" cy="3302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任务完成情况：成功开发并优化了产品功能，提高了用户体验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2" name="New shape"/>
          <p:cNvSpPr/>
          <p:nvPr/>
        </p:nvSpPr>
        <p:spPr>
          <a:xfrm>
            <a:off x="1524000" y="3413760"/>
            <a:ext cx="9550400" cy="3302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团队协作亮点：与团队成员紧密合作，高效完成了任务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3" name="New shape"/>
          <p:cNvSpPr/>
          <p:nvPr/>
        </p:nvSpPr>
        <p:spPr>
          <a:xfrm>
            <a:off x="1524000" y="4330700"/>
            <a:ext cx="9550400" cy="3302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项目二：</a:t>
            </a:r>
            <a:r>
              <a:rPr lang="en-US" sz="2100" b="0">
                <a:solidFill>
                  <a:srgbClr val="000000"/>
                </a:solidFill>
                <a:latin typeface="宋体" panose="02010600030101010101" pitchFamily="2" charset="-122"/>
              </a:rPr>
              <a:t>cocos</a:t>
            </a:r>
            <a:r>
              <a:rPr lang="zh-CN" altLang="en-US" sz="2100" b="0">
                <a:solidFill>
                  <a:srgbClr val="000000"/>
                </a:solidFill>
                <a:latin typeface="宋体" panose="02010600030101010101" pitchFamily="2" charset="-122"/>
              </a:rPr>
              <a:t>游戏</a:t>
            </a:r>
            <a:r>
              <a:rPr lang="zh-CN" altLang="en-US" sz="2100" b="0">
                <a:solidFill>
                  <a:srgbClr val="000000"/>
                </a:solidFill>
                <a:latin typeface="宋体" panose="02010600030101010101" pitchFamily="2" charset="-122"/>
              </a:rPr>
              <a:t>优化</a:t>
            </a:r>
            <a:endParaRPr lang="zh-CN" altLang="en-US"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4" name="New shape"/>
          <p:cNvSpPr/>
          <p:nvPr/>
        </p:nvSpPr>
        <p:spPr>
          <a:xfrm>
            <a:off x="1524000" y="4800600"/>
            <a:ext cx="9550400" cy="3302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项目目标：</a:t>
            </a:r>
            <a:r>
              <a:rPr lang="zh-CN" sz="2100" b="0">
                <a:solidFill>
                  <a:srgbClr val="000000"/>
                </a:solidFill>
                <a:latin typeface="宋体" panose="02010600030101010101" pitchFamily="2" charset="-122"/>
              </a:rPr>
              <a:t>优化游戏</a:t>
            </a:r>
            <a:r>
              <a:rPr lang="zh-CN" sz="2100" b="0">
                <a:solidFill>
                  <a:srgbClr val="000000"/>
                </a:solidFill>
                <a:latin typeface="宋体" panose="02010600030101010101" pitchFamily="2" charset="-122"/>
              </a:rPr>
              <a:t>中逻辑和页面不合理的</a:t>
            </a:r>
            <a:r>
              <a:rPr lang="zh-CN" sz="2100" b="0">
                <a:solidFill>
                  <a:srgbClr val="000000"/>
                </a:solidFill>
                <a:latin typeface="宋体" panose="02010600030101010101" pitchFamily="2" charset="-122"/>
              </a:rPr>
              <a:t>地方</a:t>
            </a:r>
            <a:endParaRPr lang="zh-CN"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New shape"/>
          <p:cNvSpPr/>
          <p:nvPr/>
        </p:nvSpPr>
        <p:spPr>
          <a:xfrm rot="5400000">
            <a:off x="1117600" y="5273040"/>
            <a:ext cx="330200" cy="330200"/>
          </a:xfrm>
          <a:prstGeom prst="triangle">
            <a:avLst/>
          </a:prstGeom>
          <a:solidFill>
            <a:srgbClr val="2FA1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New shape"/>
          <p:cNvSpPr/>
          <p:nvPr/>
        </p:nvSpPr>
        <p:spPr>
          <a:xfrm>
            <a:off x="1524000" y="5247640"/>
            <a:ext cx="9550400" cy="3302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任务完成情况：成功开发并优化了产品功能，提高了用户体验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30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500"/>
                            </p:stCondLst>
                            <p:childTnLst>
                              <p:par>
                                <p:cTn id="40" presetID="23" presetClass="entr" presetSubtype="16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23" presetClass="entr" presetSubtype="16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500"/>
                            </p:stCondLst>
                            <p:childTnLst>
                              <p:par>
                                <p:cTn id="50" presetID="23" presetClass="entr" presetSubtype="16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000"/>
                            </p:stCondLst>
                            <p:childTnLst>
                              <p:par>
                                <p:cTn id="55" presetID="23" presetClass="entr" presetSubtype="16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500"/>
                            </p:stCondLst>
                            <p:childTnLst>
                              <p:par>
                                <p:cTn id="60" presetID="23" presetClass="entr" presetSubtype="16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000"/>
                            </p:stCondLst>
                            <p:childTnLst>
                              <p:par>
                                <p:cTn id="65" presetID="23" presetClass="entr" presetSubtype="16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500"/>
                            </p:stCondLst>
                            <p:childTnLst>
                              <p:par>
                                <p:cTn id="70" presetID="23" presetClass="entr" presetSubtype="16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9000"/>
                            </p:stCondLst>
                            <p:childTnLst>
                              <p:par>
                                <p:cTn id="75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500"/>
                            </p:stCondLst>
                            <p:childTnLst>
                              <p:par>
                                <p:cTn id="80" presetID="23" presetClass="entr" presetSubtype="16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2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1" animBg="1"/>
      <p:bldP spid="9" grpId="2" animBg="1"/>
      <p:bldP spid="10" grpId="3" animBg="1"/>
      <p:bldP spid="12" grpId="5" bldLvl="0" animBg="1"/>
      <p:bldP spid="13" grpId="6" animBg="1"/>
      <p:bldP spid="14" grpId="7" animBg="1"/>
      <p:bldP spid="17" grpId="10" animBg="1"/>
      <p:bldP spid="18" grpId="11" animBg="1"/>
      <p:bldP spid="19" grpId="12" animBg="1"/>
      <p:bldP spid="20" grpId="13" animBg="1"/>
      <p:bldP spid="22" grpId="15" bldLvl="0" animBg="1"/>
      <p:bldP spid="23" grpId="16" animBg="1"/>
      <p:bldP spid="24" grpId="17" animBg="1"/>
      <p:bldP spid="6" grpId="3" bldLvl="0" animBg="1"/>
      <p:bldP spid="27" grpId="13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220561" y="453510"/>
            <a:ext cx="10479741" cy="72742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zh-CN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思源黑体 CN Normal" panose="020B0400000000000000" pitchFamily="34" charset="-122"/>
                <a:cs typeface="+mn-ea"/>
                <a:sym typeface="宋体" panose="02010600030101010101" pitchFamily="2" charset="-122"/>
              </a:rPr>
              <a:t>实习答辩内容概述</a:t>
            </a:r>
            <a:endParaRPr lang="zh-CN" altLang="zh-CN" sz="2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思源黑体 CN Normal" panose="020B0400000000000000" pitchFamily="34" charset="-122"/>
              <a:cs typeface="+mn-ea"/>
              <a:sym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698" y="453510"/>
            <a:ext cx="490941" cy="787419"/>
          </a:xfrm>
          <a:prstGeom prst="rect">
            <a:avLst/>
          </a:prstGeom>
        </p:spPr>
      </p:pic>
      <p:sp>
        <p:nvSpPr>
          <p:cNvPr id="2" name="Freeform: Shape 108" descr="e7d195523061f1c0c2b73831c94a3edc981f60e396d3e182073EE1468018468A7F192AE5E5CD515B6C3125F8AF6E4EE646174E8CF0B46FD19828DCE8CDA3B3A044A74F0E769C5FA8CB87AB6FC303C8BA3785FAC64AF5424764E128FECAE4CC72932BB65C8C121A0F41C1707D94688ED66335DC6AE12288BF2055523C0C26863D2CD4AC454A29EEC183CEF0375334B579"/>
          <p:cNvSpPr/>
          <p:nvPr/>
        </p:nvSpPr>
        <p:spPr>
          <a:xfrm rot="16200000">
            <a:off x="10426914" y="7729"/>
            <a:ext cx="1772817" cy="1757355"/>
          </a:xfrm>
          <a:custGeom>
            <a:avLst/>
            <a:gdLst>
              <a:gd name="connsiteX0" fmla="*/ 4050301 w 5497007"/>
              <a:gd name="connsiteY0" fmla="*/ 0 h 5126934"/>
              <a:gd name="connsiteX1" fmla="*/ 5442930 w 5497007"/>
              <a:gd name="connsiteY1" fmla="*/ 245771 h 5126934"/>
              <a:gd name="connsiteX2" fmla="*/ 5497007 w 5497007"/>
              <a:gd name="connsiteY2" fmla="*/ 267093 h 5126934"/>
              <a:gd name="connsiteX3" fmla="*/ 5497007 w 5497007"/>
              <a:gd name="connsiteY3" fmla="*/ 2751634 h 5126934"/>
              <a:gd name="connsiteX4" fmla="*/ 5426522 w 5497007"/>
              <a:gd name="connsiteY4" fmla="*/ 2674081 h 5126934"/>
              <a:gd name="connsiteX5" fmla="*/ 4050301 w 5497007"/>
              <a:gd name="connsiteY5" fmla="*/ 2104031 h 5126934"/>
              <a:gd name="connsiteX6" fmla="*/ 2104031 w 5497007"/>
              <a:gd name="connsiteY6" fmla="*/ 4050301 h 5126934"/>
              <a:gd name="connsiteX7" fmla="*/ 2338936 w 5497007"/>
              <a:gd name="connsiteY7" fmla="*/ 4978009 h 5126934"/>
              <a:gd name="connsiteX8" fmla="*/ 2429410 w 5497007"/>
              <a:gd name="connsiteY8" fmla="*/ 5126934 h 5126934"/>
              <a:gd name="connsiteX9" fmla="*/ 145802 w 5497007"/>
              <a:gd name="connsiteY9" fmla="*/ 5126934 h 5126934"/>
              <a:gd name="connsiteX10" fmla="*/ 127515 w 5497007"/>
              <a:gd name="connsiteY10" fmla="*/ 5062534 h 5126934"/>
              <a:gd name="connsiteX11" fmla="*/ 0 w 5497007"/>
              <a:gd name="connsiteY11" fmla="*/ 4050301 h 5126934"/>
              <a:gd name="connsiteX12" fmla="*/ 4050301 w 5497007"/>
              <a:gd name="connsiteY12" fmla="*/ 0 h 51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97007" h="5126934">
                <a:moveTo>
                  <a:pt x="4050301" y="0"/>
                </a:moveTo>
                <a:cubicBezTo>
                  <a:pt x="4539627" y="0"/>
                  <a:pt x="5008686" y="86773"/>
                  <a:pt x="5442930" y="245771"/>
                </a:cubicBezTo>
                <a:lnTo>
                  <a:pt x="5497007" y="267093"/>
                </a:lnTo>
                <a:lnTo>
                  <a:pt x="5497007" y="2751634"/>
                </a:lnTo>
                <a:lnTo>
                  <a:pt x="5426522" y="2674081"/>
                </a:lnTo>
                <a:cubicBezTo>
                  <a:pt x="5074316" y="2321875"/>
                  <a:pt x="4587749" y="2104031"/>
                  <a:pt x="4050301" y="2104031"/>
                </a:cubicBezTo>
                <a:cubicBezTo>
                  <a:pt x="2975406" y="2104031"/>
                  <a:pt x="2104031" y="2975406"/>
                  <a:pt x="2104031" y="4050301"/>
                </a:cubicBezTo>
                <a:cubicBezTo>
                  <a:pt x="2104031" y="4386206"/>
                  <a:pt x="2189126" y="4702236"/>
                  <a:pt x="2338936" y="4978009"/>
                </a:cubicBezTo>
                <a:lnTo>
                  <a:pt x="2429410" y="5126934"/>
                </a:lnTo>
                <a:lnTo>
                  <a:pt x="145802" y="5126934"/>
                </a:lnTo>
                <a:lnTo>
                  <a:pt x="127515" y="5062534"/>
                </a:lnTo>
                <a:cubicBezTo>
                  <a:pt x="44272" y="4738998"/>
                  <a:pt x="0" y="4399820"/>
                  <a:pt x="0" y="4050301"/>
                </a:cubicBezTo>
                <a:cubicBezTo>
                  <a:pt x="0" y="1813382"/>
                  <a:pt x="1813382" y="0"/>
                  <a:pt x="4050301" y="0"/>
                </a:cubicBezTo>
                <a:close/>
              </a:path>
            </a:pathLst>
          </a:custGeom>
          <a:solidFill>
            <a:srgbClr val="A7EBF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/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5777" y="5749085"/>
            <a:ext cx="1784373" cy="178437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9984" y="5320141"/>
            <a:ext cx="958827" cy="1537859"/>
          </a:xfrm>
          <a:prstGeom prst="rect">
            <a:avLst/>
          </a:prstGeom>
        </p:spPr>
      </p:pic>
      <p:sp>
        <p:nvSpPr>
          <p:cNvPr id="8" name="New shape"/>
          <p:cNvSpPr/>
          <p:nvPr/>
        </p:nvSpPr>
        <p:spPr>
          <a:xfrm rot="5400000">
            <a:off x="1117600" y="2924810"/>
            <a:ext cx="330200" cy="330200"/>
          </a:xfrm>
          <a:prstGeom prst="triangle">
            <a:avLst/>
          </a:prstGeom>
          <a:solidFill>
            <a:srgbClr val="2FA1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New shape"/>
          <p:cNvSpPr/>
          <p:nvPr/>
        </p:nvSpPr>
        <p:spPr>
          <a:xfrm rot="5400000">
            <a:off x="1117600" y="3737610"/>
            <a:ext cx="330200" cy="330200"/>
          </a:xfrm>
          <a:prstGeom prst="triangle">
            <a:avLst/>
          </a:prstGeom>
          <a:solidFill>
            <a:srgbClr val="2FA1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New 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6197600" y="2247900"/>
            <a:ext cx="4876800" cy="30480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</p:pic>
      <p:sp>
        <p:nvSpPr>
          <p:cNvPr id="12" name="New shape"/>
          <p:cNvSpPr/>
          <p:nvPr/>
        </p:nvSpPr>
        <p:spPr>
          <a:xfrm>
            <a:off x="1117600" y="1676400"/>
            <a:ext cx="4876800" cy="2667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85000" lnSpcReduction="20000"/>
          </a:bodyPr>
          <a:lstStyle/>
          <a:p>
            <a:pPr indent="0" algn="l">
              <a:lnSpc>
                <a:spcPct val="100000"/>
              </a:lnSpc>
            </a:pPr>
            <a:r>
              <a:rPr sz="2500" b="0">
                <a:solidFill>
                  <a:srgbClr val="000000"/>
                </a:solidFill>
                <a:latin typeface="宋体" panose="02010600030101010101" pitchFamily="2" charset="-122"/>
              </a:rPr>
              <a:t>四、公司业务认知</a:t>
            </a:r>
            <a:endParaRPr sz="25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3" name="New shape"/>
          <p:cNvSpPr/>
          <p:nvPr/>
        </p:nvSpPr>
        <p:spPr>
          <a:xfrm>
            <a:off x="1524000" y="2899410"/>
            <a:ext cx="4470400" cy="6604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公司业务概述：本公司主要从事科技研发、产品推广和市场营销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New shape"/>
          <p:cNvSpPr/>
          <p:nvPr/>
        </p:nvSpPr>
        <p:spPr>
          <a:xfrm>
            <a:off x="1524000" y="3712210"/>
            <a:ext cx="4470400" cy="13208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公司优势与特点：公司拥有一支专业的技术团队，在行业内有较高的知名度和口碑。公司注重技术创新，产品线丰富，具有较强的市场竞争力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New shape"/>
          <p:cNvSpPr/>
          <p:nvPr/>
        </p:nvSpPr>
        <p:spPr>
          <a:xfrm>
            <a:off x="1524000" y="4495800"/>
            <a:ext cx="4470400" cy="13208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/>
          </a:bodyPr>
          <a:lstStyle/>
          <a:p>
            <a:pPr indent="0" algn="l">
              <a:lnSpc>
                <a:spcPct val="125000"/>
              </a:lnSpc>
            </a:pP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30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500"/>
                            </p:stCondLst>
                            <p:childTnLst>
                              <p:par>
                                <p:cTn id="40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1" bldLvl="0" animBg="1"/>
      <p:bldP spid="9" grpId="2" bldLvl="0" animBg="1"/>
      <p:bldP spid="11" grpId="4" animBg="1"/>
      <p:bldP spid="12" grpId="5" animBg="1"/>
      <p:bldP spid="13" grpId="6" bldLvl="0" animBg="1"/>
      <p:bldP spid="14" grpId="7" bldLvl="0" animBg="1"/>
      <p:bldP spid="15" grpId="8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220561" y="453510"/>
            <a:ext cx="10479741" cy="72742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zh-CN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思源黑体 CN Normal" panose="020B0400000000000000" pitchFamily="34" charset="-122"/>
                <a:cs typeface="+mn-ea"/>
                <a:sym typeface="宋体" panose="02010600030101010101" pitchFamily="2" charset="-122"/>
              </a:rPr>
              <a:t>实习答辩内容概述</a:t>
            </a:r>
            <a:endParaRPr lang="zh-CN" altLang="zh-CN" sz="2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思源黑体 CN Normal" panose="020B0400000000000000" pitchFamily="34" charset="-122"/>
              <a:cs typeface="+mn-ea"/>
              <a:sym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698" y="453510"/>
            <a:ext cx="490941" cy="787419"/>
          </a:xfrm>
          <a:prstGeom prst="rect">
            <a:avLst/>
          </a:prstGeom>
        </p:spPr>
      </p:pic>
      <p:sp>
        <p:nvSpPr>
          <p:cNvPr id="2" name="Freeform: Shape 108" descr="e7d195523061f1c0c2b73831c94a3edc981f60e396d3e182073EE1468018468A7F192AE5E5CD515B6C3125F8AF6E4EE646174E8CF0B46FD19828DCE8CDA3B3A044A74F0E769C5FA8CB87AB6FC303C8BA3785FAC64AF5424764E128FECAE4CC72932BB65C8C121A0F41C1707D94688ED66335DC6AE12288BF2055523C0C26863D2CD4AC454A29EEC183CEF0375334B579"/>
          <p:cNvSpPr/>
          <p:nvPr/>
        </p:nvSpPr>
        <p:spPr>
          <a:xfrm rot="16200000">
            <a:off x="10426914" y="7729"/>
            <a:ext cx="1772817" cy="1757355"/>
          </a:xfrm>
          <a:custGeom>
            <a:avLst/>
            <a:gdLst>
              <a:gd name="connsiteX0" fmla="*/ 4050301 w 5497007"/>
              <a:gd name="connsiteY0" fmla="*/ 0 h 5126934"/>
              <a:gd name="connsiteX1" fmla="*/ 5442930 w 5497007"/>
              <a:gd name="connsiteY1" fmla="*/ 245771 h 5126934"/>
              <a:gd name="connsiteX2" fmla="*/ 5497007 w 5497007"/>
              <a:gd name="connsiteY2" fmla="*/ 267093 h 5126934"/>
              <a:gd name="connsiteX3" fmla="*/ 5497007 w 5497007"/>
              <a:gd name="connsiteY3" fmla="*/ 2751634 h 5126934"/>
              <a:gd name="connsiteX4" fmla="*/ 5426522 w 5497007"/>
              <a:gd name="connsiteY4" fmla="*/ 2674081 h 5126934"/>
              <a:gd name="connsiteX5" fmla="*/ 4050301 w 5497007"/>
              <a:gd name="connsiteY5" fmla="*/ 2104031 h 5126934"/>
              <a:gd name="connsiteX6" fmla="*/ 2104031 w 5497007"/>
              <a:gd name="connsiteY6" fmla="*/ 4050301 h 5126934"/>
              <a:gd name="connsiteX7" fmla="*/ 2338936 w 5497007"/>
              <a:gd name="connsiteY7" fmla="*/ 4978009 h 5126934"/>
              <a:gd name="connsiteX8" fmla="*/ 2429410 w 5497007"/>
              <a:gd name="connsiteY8" fmla="*/ 5126934 h 5126934"/>
              <a:gd name="connsiteX9" fmla="*/ 145802 w 5497007"/>
              <a:gd name="connsiteY9" fmla="*/ 5126934 h 5126934"/>
              <a:gd name="connsiteX10" fmla="*/ 127515 w 5497007"/>
              <a:gd name="connsiteY10" fmla="*/ 5062534 h 5126934"/>
              <a:gd name="connsiteX11" fmla="*/ 0 w 5497007"/>
              <a:gd name="connsiteY11" fmla="*/ 4050301 h 5126934"/>
              <a:gd name="connsiteX12" fmla="*/ 4050301 w 5497007"/>
              <a:gd name="connsiteY12" fmla="*/ 0 h 51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97007" h="5126934">
                <a:moveTo>
                  <a:pt x="4050301" y="0"/>
                </a:moveTo>
                <a:cubicBezTo>
                  <a:pt x="4539627" y="0"/>
                  <a:pt x="5008686" y="86773"/>
                  <a:pt x="5442930" y="245771"/>
                </a:cubicBezTo>
                <a:lnTo>
                  <a:pt x="5497007" y="267093"/>
                </a:lnTo>
                <a:lnTo>
                  <a:pt x="5497007" y="2751634"/>
                </a:lnTo>
                <a:lnTo>
                  <a:pt x="5426522" y="2674081"/>
                </a:lnTo>
                <a:cubicBezTo>
                  <a:pt x="5074316" y="2321875"/>
                  <a:pt x="4587749" y="2104031"/>
                  <a:pt x="4050301" y="2104031"/>
                </a:cubicBezTo>
                <a:cubicBezTo>
                  <a:pt x="2975406" y="2104031"/>
                  <a:pt x="2104031" y="2975406"/>
                  <a:pt x="2104031" y="4050301"/>
                </a:cubicBezTo>
                <a:cubicBezTo>
                  <a:pt x="2104031" y="4386206"/>
                  <a:pt x="2189126" y="4702236"/>
                  <a:pt x="2338936" y="4978009"/>
                </a:cubicBezTo>
                <a:lnTo>
                  <a:pt x="2429410" y="5126934"/>
                </a:lnTo>
                <a:lnTo>
                  <a:pt x="145802" y="5126934"/>
                </a:lnTo>
                <a:lnTo>
                  <a:pt x="127515" y="5062534"/>
                </a:lnTo>
                <a:cubicBezTo>
                  <a:pt x="44272" y="4738998"/>
                  <a:pt x="0" y="4399820"/>
                  <a:pt x="0" y="4050301"/>
                </a:cubicBezTo>
                <a:cubicBezTo>
                  <a:pt x="0" y="1813382"/>
                  <a:pt x="1813382" y="0"/>
                  <a:pt x="4050301" y="0"/>
                </a:cubicBezTo>
                <a:close/>
              </a:path>
            </a:pathLst>
          </a:custGeom>
          <a:solidFill>
            <a:srgbClr val="A7EBF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/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5777" y="5749085"/>
            <a:ext cx="1784373" cy="178437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9984" y="5320141"/>
            <a:ext cx="958827" cy="1537859"/>
          </a:xfrm>
          <a:prstGeom prst="rect">
            <a:avLst/>
          </a:prstGeom>
        </p:spPr>
      </p:pic>
      <p:sp>
        <p:nvSpPr>
          <p:cNvPr id="8" name="New shape"/>
          <p:cNvSpPr/>
          <p:nvPr>
            <p:custDataLst>
              <p:tags r:id="rId3"/>
            </p:custDataLst>
          </p:nvPr>
        </p:nvSpPr>
        <p:spPr>
          <a:xfrm>
            <a:off x="1117600" y="1930400"/>
            <a:ext cx="9956800" cy="16256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E4E4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New shape"/>
          <p:cNvSpPr/>
          <p:nvPr>
            <p:custDataLst>
              <p:tags r:id="rId4"/>
            </p:custDataLst>
          </p:nvPr>
        </p:nvSpPr>
        <p:spPr>
          <a:xfrm>
            <a:off x="1117600" y="4381500"/>
            <a:ext cx="9956800" cy="16256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E4E4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New picture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219200" y="1930400"/>
            <a:ext cx="381000" cy="7620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</p:pic>
      <p:pic>
        <p:nvPicPr>
          <p:cNvPr id="11" name="New picture"/>
          <p:cNvPicPr/>
          <p:nvPr/>
        </p:nvPicPr>
        <p:blipFill>
          <a:blip r:embed="rId7"/>
          <a:stretch>
            <a:fillRect/>
          </a:stretch>
        </p:blipFill>
        <p:spPr>
          <a:xfrm>
            <a:off x="10591800" y="2794000"/>
            <a:ext cx="381000" cy="7620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</p:pic>
      <p:pic>
        <p:nvPicPr>
          <p:cNvPr id="12" name="New picture"/>
          <p:cNvPicPr/>
          <p:nvPr>
            <p:custDataLst>
              <p:tags r:id="rId8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219200" y="4381500"/>
            <a:ext cx="381000" cy="7620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</p:pic>
      <p:pic>
        <p:nvPicPr>
          <p:cNvPr id="13" name="New picture"/>
          <p:cNvPicPr/>
          <p:nvPr/>
        </p:nvPicPr>
        <p:blipFill>
          <a:blip r:embed="rId7"/>
          <a:stretch>
            <a:fillRect/>
          </a:stretch>
        </p:blipFill>
        <p:spPr>
          <a:xfrm>
            <a:off x="10591800" y="5245100"/>
            <a:ext cx="381000" cy="7620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</p:pic>
      <p:sp>
        <p:nvSpPr>
          <p:cNvPr id="14" name="New shape"/>
          <p:cNvSpPr/>
          <p:nvPr>
            <p:custDataLst>
              <p:tags r:id="rId9"/>
            </p:custDataLst>
          </p:nvPr>
        </p:nvSpPr>
        <p:spPr>
          <a:xfrm>
            <a:off x="1117600" y="1422400"/>
            <a:ext cx="9956800" cy="2667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85000" lnSpcReduction="20000"/>
          </a:bodyPr>
          <a:lstStyle/>
          <a:p>
            <a:pPr indent="0" algn="l">
              <a:lnSpc>
                <a:spcPct val="100000"/>
              </a:lnSpc>
            </a:pPr>
            <a:r>
              <a:rPr sz="2500" b="0">
                <a:solidFill>
                  <a:srgbClr val="000000"/>
                </a:solidFill>
                <a:latin typeface="宋体" panose="02010600030101010101" pitchFamily="2" charset="-122"/>
              </a:rPr>
              <a:t>五、学习成果与成长经历</a:t>
            </a:r>
            <a:endParaRPr sz="25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New shape"/>
          <p:cNvSpPr/>
          <p:nvPr>
            <p:custDataLst>
              <p:tags r:id="rId10"/>
            </p:custDataLst>
          </p:nvPr>
        </p:nvSpPr>
        <p:spPr>
          <a:xfrm>
            <a:off x="1498600" y="2057400"/>
            <a:ext cx="9194800" cy="13716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/>
          </a:bodyPr>
          <a:lstStyle/>
          <a:p>
            <a:pPr indent="0" algn="l">
              <a:lnSpc>
                <a:spcPct val="125000"/>
              </a:lnSpc>
            </a:pPr>
            <a:r>
              <a:rPr sz="2400" b="0">
                <a:solidFill>
                  <a:srgbClr val="000000"/>
                </a:solidFill>
                <a:latin typeface="宋体" panose="02010600030101010101" pitchFamily="2" charset="-122"/>
              </a:rPr>
              <a:t>在实习期间，我通过参与多个项目实践，深入了解了公司的运营模式和业务流程。我也提高了自己的项目管理和团队协作能力，对公司的业务有了更加清晰的认识。</a:t>
            </a:r>
            <a:endParaRPr sz="24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6" name="New shape"/>
          <p:cNvSpPr/>
          <p:nvPr>
            <p:custDataLst>
              <p:tags r:id="rId11"/>
            </p:custDataLst>
          </p:nvPr>
        </p:nvSpPr>
        <p:spPr>
          <a:xfrm>
            <a:off x="1117600" y="3873500"/>
            <a:ext cx="9956800" cy="2667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85000" lnSpcReduction="20000"/>
          </a:bodyPr>
          <a:lstStyle/>
          <a:p>
            <a:pPr indent="0" algn="l">
              <a:lnSpc>
                <a:spcPct val="100000"/>
              </a:lnSpc>
            </a:pPr>
            <a:r>
              <a:rPr sz="2500" b="0">
                <a:solidFill>
                  <a:srgbClr val="000000"/>
                </a:solidFill>
                <a:latin typeface="宋体" panose="02010600030101010101" pitchFamily="2" charset="-122"/>
              </a:rPr>
              <a:t>六、未来计划与展望</a:t>
            </a:r>
            <a:endParaRPr sz="25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7" name="New shape"/>
          <p:cNvSpPr/>
          <p:nvPr>
            <p:custDataLst>
              <p:tags r:id="rId12"/>
            </p:custDataLst>
          </p:nvPr>
        </p:nvSpPr>
        <p:spPr>
          <a:xfrm>
            <a:off x="1498600" y="4508500"/>
            <a:ext cx="9194800" cy="13716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8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400" b="0">
                <a:solidFill>
                  <a:srgbClr val="000000"/>
                </a:solidFill>
                <a:latin typeface="宋体" panose="02010600030101010101" pitchFamily="2" charset="-122"/>
              </a:rPr>
              <a:t>对于未来职业发展，我将继续关注行业动态，持续学习和提高自己的专业技能和知识水平。我计划继续深入参与公司的各个项目，争取为公司做出更大的贡献。同时，我也希望能够在公司的团队协作中锻炼自己的领导能力，为企业的发展做出更大的贡献</a:t>
            </a:r>
            <a:endParaRPr sz="24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30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500"/>
                            </p:stCondLst>
                            <p:childTnLst>
                              <p:par>
                                <p:cTn id="40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500"/>
                            </p:stCondLst>
                            <p:childTnLst>
                              <p:par>
                                <p:cTn id="50" presetID="23" presetClass="entr" presetSubtype="16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000"/>
                            </p:stCondLst>
                            <p:childTnLst>
                              <p:par>
                                <p:cTn id="55" presetID="23" presetClass="entr" presetSubtype="16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1" animBg="1"/>
      <p:bldP spid="9" grpId="2" animBg="1"/>
      <p:bldP spid="10" grpId="3" animBg="1"/>
      <p:bldP spid="11" grpId="4" animBg="1"/>
      <p:bldP spid="12" grpId="5" animBg="1"/>
      <p:bldP spid="13" grpId="6" animBg="1"/>
      <p:bldP spid="14" grpId="7" animBg="1"/>
      <p:bldP spid="15" grpId="8" animBg="1"/>
      <p:bldP spid="16" grpId="9" animBg="1"/>
      <p:bldP spid="17" grpId="1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文本框 6"/>
          <p:cNvSpPr txBox="1"/>
          <p:nvPr/>
        </p:nvSpPr>
        <p:spPr>
          <a:xfrm>
            <a:off x="1220561" y="453510"/>
            <a:ext cx="10479741" cy="72742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思源黑体 CN Normal" panose="020B0400000000000000" pitchFamily="34" charset="-122"/>
                <a:cs typeface="+mn-ea"/>
                <a:sym typeface="宋体" panose="02010600030101010101" pitchFamily="2" charset="-122"/>
              </a:rPr>
              <a:t>实习答辩内容概述</a:t>
            </a:r>
            <a:endParaRPr lang="zh-CN" altLang="zh-CN" sz="2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思源黑体 CN Normal" panose="020B0400000000000000" pitchFamily="34" charset="-122"/>
              <a:cs typeface="+mn-ea"/>
              <a:sym typeface="宋体" panose="02010600030101010101" pitchFamily="2" charset="-122"/>
            </a:endParaRPr>
          </a:p>
        </p:txBody>
      </p:sp>
      <p:pic>
        <p:nvPicPr>
          <p:cNvPr id="111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491698" y="453510"/>
            <a:ext cx="490941" cy="787419"/>
          </a:xfrm>
          <a:prstGeom prst="rect">
            <a:avLst/>
          </a:prstGeom>
          <a:ln>
            <a:noFill/>
          </a:ln>
        </p:spPr>
      </p:pic>
      <p:sp>
        <p:nvSpPr>
          <p:cNvPr id="112" name="Freeform: Shape 108" descr="e7d195523061f1c0c2b73831c94a3edc981f60e396d3e182073EE1468018468A7F192AE5E5CD515B6C3125F8AF6E4EE646174E8CF0B46FD19828DCE8CDA3B3A044A74F0E769C5FA8CB87AB6FC303C8BA3785FAC64AF5424764E128FECAE4CC72932BB65C8C121A0F41C1707D94688ED66335DC6AE12288BF2055523C0C26863D2CD4AC454A29EEC183CEF0375334B579"/>
          <p:cNvSpPr/>
          <p:nvPr/>
        </p:nvSpPr>
        <p:spPr>
          <a:xfrm rot="16200000">
            <a:off x="10426914" y="7729"/>
            <a:ext cx="1772817" cy="1757355"/>
          </a:xfrm>
          <a:custGeom>
            <a:avLst/>
            <a:gdLst>
              <a:gd name="connsiteX0" fmla="*/ 4050301 w 5497007"/>
              <a:gd name="connsiteY0" fmla="*/ 0 h 5126934"/>
              <a:gd name="connsiteX1" fmla="*/ 5442930 w 5497007"/>
              <a:gd name="connsiteY1" fmla="*/ 245771 h 5126934"/>
              <a:gd name="connsiteX2" fmla="*/ 5497007 w 5497007"/>
              <a:gd name="connsiteY2" fmla="*/ 267093 h 5126934"/>
              <a:gd name="connsiteX3" fmla="*/ 5497007 w 5497007"/>
              <a:gd name="connsiteY3" fmla="*/ 2751634 h 5126934"/>
              <a:gd name="connsiteX4" fmla="*/ 5426522 w 5497007"/>
              <a:gd name="connsiteY4" fmla="*/ 2674081 h 5126934"/>
              <a:gd name="connsiteX5" fmla="*/ 4050301 w 5497007"/>
              <a:gd name="connsiteY5" fmla="*/ 2104031 h 5126934"/>
              <a:gd name="connsiteX6" fmla="*/ 2104031 w 5497007"/>
              <a:gd name="connsiteY6" fmla="*/ 4050301 h 5126934"/>
              <a:gd name="connsiteX7" fmla="*/ 2338936 w 5497007"/>
              <a:gd name="connsiteY7" fmla="*/ 4978009 h 5126934"/>
              <a:gd name="connsiteX8" fmla="*/ 2429410 w 5497007"/>
              <a:gd name="connsiteY8" fmla="*/ 5126934 h 5126934"/>
              <a:gd name="connsiteX9" fmla="*/ 145802 w 5497007"/>
              <a:gd name="connsiteY9" fmla="*/ 5126934 h 5126934"/>
              <a:gd name="connsiteX10" fmla="*/ 127515 w 5497007"/>
              <a:gd name="connsiteY10" fmla="*/ 5062534 h 5126934"/>
              <a:gd name="connsiteX11" fmla="*/ 0 w 5497007"/>
              <a:gd name="connsiteY11" fmla="*/ 4050301 h 5126934"/>
              <a:gd name="connsiteX12" fmla="*/ 4050301 w 5497007"/>
              <a:gd name="connsiteY12" fmla="*/ 0 h 51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97007" h="5126934">
                <a:moveTo>
                  <a:pt x="4050301" y="0"/>
                </a:moveTo>
                <a:cubicBezTo>
                  <a:pt x="4539627" y="0"/>
                  <a:pt x="5008686" y="86773"/>
                  <a:pt x="5442930" y="245771"/>
                </a:cubicBezTo>
                <a:lnTo>
                  <a:pt x="5497007" y="267093"/>
                </a:lnTo>
                <a:lnTo>
                  <a:pt x="5497007" y="2751634"/>
                </a:lnTo>
                <a:lnTo>
                  <a:pt x="5426522" y="2674081"/>
                </a:lnTo>
                <a:cubicBezTo>
                  <a:pt x="5074316" y="2321875"/>
                  <a:pt x="4587749" y="2104031"/>
                  <a:pt x="4050301" y="2104031"/>
                </a:cubicBezTo>
                <a:cubicBezTo>
                  <a:pt x="2975406" y="2104031"/>
                  <a:pt x="2104031" y="2975406"/>
                  <a:pt x="2104031" y="4050301"/>
                </a:cubicBezTo>
                <a:cubicBezTo>
                  <a:pt x="2104031" y="4386206"/>
                  <a:pt x="2189126" y="4702236"/>
                  <a:pt x="2338936" y="4978009"/>
                </a:cubicBezTo>
                <a:lnTo>
                  <a:pt x="2429410" y="5126934"/>
                </a:lnTo>
                <a:lnTo>
                  <a:pt x="145802" y="5126934"/>
                </a:lnTo>
                <a:lnTo>
                  <a:pt x="127515" y="5062534"/>
                </a:lnTo>
                <a:cubicBezTo>
                  <a:pt x="44272" y="4738998"/>
                  <a:pt x="0" y="4399820"/>
                  <a:pt x="0" y="4050301"/>
                </a:cubicBezTo>
                <a:cubicBezTo>
                  <a:pt x="0" y="1813382"/>
                  <a:pt x="1813382" y="0"/>
                  <a:pt x="4050301" y="0"/>
                </a:cubicBezTo>
                <a:close/>
              </a:path>
            </a:pathLst>
          </a:custGeom>
          <a:solidFill>
            <a:srgbClr val="A7EBF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pic>
        <p:nvPicPr>
          <p:cNvPr id="113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10865777" y="5749085"/>
            <a:ext cx="1784373" cy="1784373"/>
          </a:xfrm>
          <a:prstGeom prst="rect">
            <a:avLst/>
          </a:prstGeom>
          <a:ln>
            <a:noFill/>
          </a:ln>
        </p:spPr>
      </p:pic>
      <p:pic>
        <p:nvPicPr>
          <p:cNvPr id="114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10569984" y="5320141"/>
            <a:ext cx="958827" cy="1537859"/>
          </a:xfrm>
          <a:prstGeom prst="rect">
            <a:avLst/>
          </a:prstGeom>
          <a:ln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415" y="1196975"/>
            <a:ext cx="10250398" cy="4863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文本框 6"/>
          <p:cNvSpPr txBox="1"/>
          <p:nvPr/>
        </p:nvSpPr>
        <p:spPr>
          <a:xfrm>
            <a:off x="1220561" y="453510"/>
            <a:ext cx="10479741" cy="72742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思源黑体 CN Normal" panose="020B0400000000000000" pitchFamily="34" charset="-122"/>
                <a:cs typeface="+mn-ea"/>
                <a:sym typeface="宋体" panose="02010600030101010101" pitchFamily="2" charset="-122"/>
              </a:rPr>
              <a:t>实习答辩内容概述</a:t>
            </a:r>
            <a:endParaRPr lang="zh-CN" altLang="zh-CN" sz="2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思源黑体 CN Normal" panose="020B0400000000000000" pitchFamily="34" charset="-122"/>
              <a:cs typeface="+mn-ea"/>
              <a:sym typeface="宋体" panose="02010600030101010101" pitchFamily="2" charset="-122"/>
            </a:endParaRPr>
          </a:p>
        </p:txBody>
      </p:sp>
      <p:pic>
        <p:nvPicPr>
          <p:cNvPr id="111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491698" y="453510"/>
            <a:ext cx="490941" cy="787419"/>
          </a:xfrm>
          <a:prstGeom prst="rect">
            <a:avLst/>
          </a:prstGeom>
          <a:ln>
            <a:noFill/>
          </a:ln>
        </p:spPr>
      </p:pic>
      <p:sp>
        <p:nvSpPr>
          <p:cNvPr id="112" name="Freeform: Shape 108" descr="e7d195523061f1c0c2b73831c94a3edc981f60e396d3e182073EE1468018468A7F192AE5E5CD515B6C3125F8AF6E4EE646174E8CF0B46FD19828DCE8CDA3B3A044A74F0E769C5FA8CB87AB6FC303C8BA3785FAC64AF5424764E128FECAE4CC72932BB65C8C121A0F41C1707D94688ED66335DC6AE12288BF2055523C0C26863D2CD4AC454A29EEC183CEF0375334B579"/>
          <p:cNvSpPr/>
          <p:nvPr/>
        </p:nvSpPr>
        <p:spPr>
          <a:xfrm rot="16200000">
            <a:off x="10426914" y="7729"/>
            <a:ext cx="1772817" cy="1757355"/>
          </a:xfrm>
          <a:custGeom>
            <a:avLst/>
            <a:gdLst>
              <a:gd name="connsiteX0" fmla="*/ 4050301 w 5497007"/>
              <a:gd name="connsiteY0" fmla="*/ 0 h 5126934"/>
              <a:gd name="connsiteX1" fmla="*/ 5442930 w 5497007"/>
              <a:gd name="connsiteY1" fmla="*/ 245771 h 5126934"/>
              <a:gd name="connsiteX2" fmla="*/ 5497007 w 5497007"/>
              <a:gd name="connsiteY2" fmla="*/ 267093 h 5126934"/>
              <a:gd name="connsiteX3" fmla="*/ 5497007 w 5497007"/>
              <a:gd name="connsiteY3" fmla="*/ 2751634 h 5126934"/>
              <a:gd name="connsiteX4" fmla="*/ 5426522 w 5497007"/>
              <a:gd name="connsiteY4" fmla="*/ 2674081 h 5126934"/>
              <a:gd name="connsiteX5" fmla="*/ 4050301 w 5497007"/>
              <a:gd name="connsiteY5" fmla="*/ 2104031 h 5126934"/>
              <a:gd name="connsiteX6" fmla="*/ 2104031 w 5497007"/>
              <a:gd name="connsiteY6" fmla="*/ 4050301 h 5126934"/>
              <a:gd name="connsiteX7" fmla="*/ 2338936 w 5497007"/>
              <a:gd name="connsiteY7" fmla="*/ 4978009 h 5126934"/>
              <a:gd name="connsiteX8" fmla="*/ 2429410 w 5497007"/>
              <a:gd name="connsiteY8" fmla="*/ 5126934 h 5126934"/>
              <a:gd name="connsiteX9" fmla="*/ 145802 w 5497007"/>
              <a:gd name="connsiteY9" fmla="*/ 5126934 h 5126934"/>
              <a:gd name="connsiteX10" fmla="*/ 127515 w 5497007"/>
              <a:gd name="connsiteY10" fmla="*/ 5062534 h 5126934"/>
              <a:gd name="connsiteX11" fmla="*/ 0 w 5497007"/>
              <a:gd name="connsiteY11" fmla="*/ 4050301 h 5126934"/>
              <a:gd name="connsiteX12" fmla="*/ 4050301 w 5497007"/>
              <a:gd name="connsiteY12" fmla="*/ 0 h 51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97007" h="5126934">
                <a:moveTo>
                  <a:pt x="4050301" y="0"/>
                </a:moveTo>
                <a:cubicBezTo>
                  <a:pt x="4539627" y="0"/>
                  <a:pt x="5008686" y="86773"/>
                  <a:pt x="5442930" y="245771"/>
                </a:cubicBezTo>
                <a:lnTo>
                  <a:pt x="5497007" y="267093"/>
                </a:lnTo>
                <a:lnTo>
                  <a:pt x="5497007" y="2751634"/>
                </a:lnTo>
                <a:lnTo>
                  <a:pt x="5426522" y="2674081"/>
                </a:lnTo>
                <a:cubicBezTo>
                  <a:pt x="5074316" y="2321875"/>
                  <a:pt x="4587749" y="2104031"/>
                  <a:pt x="4050301" y="2104031"/>
                </a:cubicBezTo>
                <a:cubicBezTo>
                  <a:pt x="2975406" y="2104031"/>
                  <a:pt x="2104031" y="2975406"/>
                  <a:pt x="2104031" y="4050301"/>
                </a:cubicBezTo>
                <a:cubicBezTo>
                  <a:pt x="2104031" y="4386206"/>
                  <a:pt x="2189126" y="4702236"/>
                  <a:pt x="2338936" y="4978009"/>
                </a:cubicBezTo>
                <a:lnTo>
                  <a:pt x="2429410" y="5126934"/>
                </a:lnTo>
                <a:lnTo>
                  <a:pt x="145802" y="5126934"/>
                </a:lnTo>
                <a:lnTo>
                  <a:pt x="127515" y="5062534"/>
                </a:lnTo>
                <a:cubicBezTo>
                  <a:pt x="44272" y="4738998"/>
                  <a:pt x="0" y="4399820"/>
                  <a:pt x="0" y="4050301"/>
                </a:cubicBezTo>
                <a:cubicBezTo>
                  <a:pt x="0" y="1813382"/>
                  <a:pt x="1813382" y="0"/>
                  <a:pt x="4050301" y="0"/>
                </a:cubicBezTo>
                <a:close/>
              </a:path>
            </a:pathLst>
          </a:custGeom>
          <a:solidFill>
            <a:srgbClr val="A7EBF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pic>
        <p:nvPicPr>
          <p:cNvPr id="113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10865777" y="5749085"/>
            <a:ext cx="1784373" cy="1784373"/>
          </a:xfrm>
          <a:prstGeom prst="rect">
            <a:avLst/>
          </a:prstGeom>
          <a:ln>
            <a:noFill/>
          </a:ln>
        </p:spPr>
      </p:pic>
      <p:pic>
        <p:nvPicPr>
          <p:cNvPr id="114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10569984" y="5320141"/>
            <a:ext cx="958827" cy="1537859"/>
          </a:xfrm>
          <a:prstGeom prst="rect">
            <a:avLst/>
          </a:prstGeom>
          <a:ln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470" y="1240790"/>
            <a:ext cx="10252710" cy="48647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文本框 6"/>
          <p:cNvSpPr txBox="1"/>
          <p:nvPr/>
        </p:nvSpPr>
        <p:spPr>
          <a:xfrm>
            <a:off x="1220561" y="453510"/>
            <a:ext cx="10479741" cy="72742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思源黑体 CN Normal" panose="020B0400000000000000" pitchFamily="34" charset="-122"/>
                <a:cs typeface="+mn-ea"/>
                <a:sym typeface="宋体" panose="02010600030101010101" pitchFamily="2" charset="-122"/>
              </a:rPr>
              <a:t>实习答辩内容概述</a:t>
            </a:r>
            <a:endParaRPr lang="zh-CN" altLang="zh-CN" sz="2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思源黑体 CN Normal" panose="020B0400000000000000" pitchFamily="34" charset="-122"/>
              <a:cs typeface="+mn-ea"/>
              <a:sym typeface="宋体" panose="02010600030101010101" pitchFamily="2" charset="-122"/>
            </a:endParaRPr>
          </a:p>
        </p:txBody>
      </p:sp>
      <p:pic>
        <p:nvPicPr>
          <p:cNvPr id="111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491698" y="453510"/>
            <a:ext cx="490941" cy="787419"/>
          </a:xfrm>
          <a:prstGeom prst="rect">
            <a:avLst/>
          </a:prstGeom>
          <a:ln>
            <a:noFill/>
          </a:ln>
        </p:spPr>
      </p:pic>
      <p:sp>
        <p:nvSpPr>
          <p:cNvPr id="112" name="Freeform: Shape 108" descr="e7d195523061f1c0c2b73831c94a3edc981f60e396d3e182073EE1468018468A7F192AE5E5CD515B6C3125F8AF6E4EE646174E8CF0B46FD19828DCE8CDA3B3A044A74F0E769C5FA8CB87AB6FC303C8BA3785FAC64AF5424764E128FECAE4CC72932BB65C8C121A0F41C1707D94688ED66335DC6AE12288BF2055523C0C26863D2CD4AC454A29EEC183CEF0375334B579"/>
          <p:cNvSpPr/>
          <p:nvPr/>
        </p:nvSpPr>
        <p:spPr>
          <a:xfrm rot="16200000">
            <a:off x="10426914" y="7729"/>
            <a:ext cx="1772817" cy="1757355"/>
          </a:xfrm>
          <a:custGeom>
            <a:avLst/>
            <a:gdLst>
              <a:gd name="connsiteX0" fmla="*/ 4050301 w 5497007"/>
              <a:gd name="connsiteY0" fmla="*/ 0 h 5126934"/>
              <a:gd name="connsiteX1" fmla="*/ 5442930 w 5497007"/>
              <a:gd name="connsiteY1" fmla="*/ 245771 h 5126934"/>
              <a:gd name="connsiteX2" fmla="*/ 5497007 w 5497007"/>
              <a:gd name="connsiteY2" fmla="*/ 267093 h 5126934"/>
              <a:gd name="connsiteX3" fmla="*/ 5497007 w 5497007"/>
              <a:gd name="connsiteY3" fmla="*/ 2751634 h 5126934"/>
              <a:gd name="connsiteX4" fmla="*/ 5426522 w 5497007"/>
              <a:gd name="connsiteY4" fmla="*/ 2674081 h 5126934"/>
              <a:gd name="connsiteX5" fmla="*/ 4050301 w 5497007"/>
              <a:gd name="connsiteY5" fmla="*/ 2104031 h 5126934"/>
              <a:gd name="connsiteX6" fmla="*/ 2104031 w 5497007"/>
              <a:gd name="connsiteY6" fmla="*/ 4050301 h 5126934"/>
              <a:gd name="connsiteX7" fmla="*/ 2338936 w 5497007"/>
              <a:gd name="connsiteY7" fmla="*/ 4978009 h 5126934"/>
              <a:gd name="connsiteX8" fmla="*/ 2429410 w 5497007"/>
              <a:gd name="connsiteY8" fmla="*/ 5126934 h 5126934"/>
              <a:gd name="connsiteX9" fmla="*/ 145802 w 5497007"/>
              <a:gd name="connsiteY9" fmla="*/ 5126934 h 5126934"/>
              <a:gd name="connsiteX10" fmla="*/ 127515 w 5497007"/>
              <a:gd name="connsiteY10" fmla="*/ 5062534 h 5126934"/>
              <a:gd name="connsiteX11" fmla="*/ 0 w 5497007"/>
              <a:gd name="connsiteY11" fmla="*/ 4050301 h 5126934"/>
              <a:gd name="connsiteX12" fmla="*/ 4050301 w 5497007"/>
              <a:gd name="connsiteY12" fmla="*/ 0 h 51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97007" h="5126934">
                <a:moveTo>
                  <a:pt x="4050301" y="0"/>
                </a:moveTo>
                <a:cubicBezTo>
                  <a:pt x="4539627" y="0"/>
                  <a:pt x="5008686" y="86773"/>
                  <a:pt x="5442930" y="245771"/>
                </a:cubicBezTo>
                <a:lnTo>
                  <a:pt x="5497007" y="267093"/>
                </a:lnTo>
                <a:lnTo>
                  <a:pt x="5497007" y="2751634"/>
                </a:lnTo>
                <a:lnTo>
                  <a:pt x="5426522" y="2674081"/>
                </a:lnTo>
                <a:cubicBezTo>
                  <a:pt x="5074316" y="2321875"/>
                  <a:pt x="4587749" y="2104031"/>
                  <a:pt x="4050301" y="2104031"/>
                </a:cubicBezTo>
                <a:cubicBezTo>
                  <a:pt x="2975406" y="2104031"/>
                  <a:pt x="2104031" y="2975406"/>
                  <a:pt x="2104031" y="4050301"/>
                </a:cubicBezTo>
                <a:cubicBezTo>
                  <a:pt x="2104031" y="4386206"/>
                  <a:pt x="2189126" y="4702236"/>
                  <a:pt x="2338936" y="4978009"/>
                </a:cubicBezTo>
                <a:lnTo>
                  <a:pt x="2429410" y="5126934"/>
                </a:lnTo>
                <a:lnTo>
                  <a:pt x="145802" y="5126934"/>
                </a:lnTo>
                <a:lnTo>
                  <a:pt x="127515" y="5062534"/>
                </a:lnTo>
                <a:cubicBezTo>
                  <a:pt x="44272" y="4738998"/>
                  <a:pt x="0" y="4399820"/>
                  <a:pt x="0" y="4050301"/>
                </a:cubicBezTo>
                <a:cubicBezTo>
                  <a:pt x="0" y="1813382"/>
                  <a:pt x="1813382" y="0"/>
                  <a:pt x="4050301" y="0"/>
                </a:cubicBezTo>
                <a:close/>
              </a:path>
            </a:pathLst>
          </a:custGeom>
          <a:solidFill>
            <a:srgbClr val="A7EBF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pic>
        <p:nvPicPr>
          <p:cNvPr id="113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10865777" y="5749085"/>
            <a:ext cx="1784373" cy="1784373"/>
          </a:xfrm>
          <a:prstGeom prst="rect">
            <a:avLst/>
          </a:prstGeom>
          <a:ln>
            <a:noFill/>
          </a:ln>
        </p:spPr>
      </p:pic>
      <p:pic>
        <p:nvPicPr>
          <p:cNvPr id="114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10569984" y="5320141"/>
            <a:ext cx="958827" cy="1537859"/>
          </a:xfrm>
          <a:prstGeom prst="rect">
            <a:avLst/>
          </a:prstGeom>
          <a:ln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660" y="1181100"/>
            <a:ext cx="10249891" cy="4863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文本框 6"/>
          <p:cNvSpPr txBox="1"/>
          <p:nvPr/>
        </p:nvSpPr>
        <p:spPr>
          <a:xfrm>
            <a:off x="1220561" y="453510"/>
            <a:ext cx="10479741" cy="72742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思源黑体 CN Normal" panose="020B0400000000000000" pitchFamily="34" charset="-122"/>
                <a:cs typeface="+mn-ea"/>
                <a:sym typeface="宋体" panose="02010600030101010101" pitchFamily="2" charset="-122"/>
              </a:rPr>
              <a:t>实习答辩内容概述</a:t>
            </a:r>
            <a:endParaRPr lang="zh-CN" altLang="zh-CN" sz="2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思源黑体 CN Normal" panose="020B0400000000000000" pitchFamily="34" charset="-122"/>
              <a:cs typeface="+mn-ea"/>
              <a:sym typeface="宋体" panose="02010600030101010101" pitchFamily="2" charset="-122"/>
            </a:endParaRPr>
          </a:p>
        </p:txBody>
      </p:sp>
      <p:pic>
        <p:nvPicPr>
          <p:cNvPr id="111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491698" y="453510"/>
            <a:ext cx="490941" cy="787419"/>
          </a:xfrm>
          <a:prstGeom prst="rect">
            <a:avLst/>
          </a:prstGeom>
          <a:ln>
            <a:noFill/>
          </a:ln>
        </p:spPr>
      </p:pic>
      <p:sp>
        <p:nvSpPr>
          <p:cNvPr id="112" name="Freeform: Shape 108" descr="e7d195523061f1c0c2b73831c94a3edc981f60e396d3e182073EE1468018468A7F192AE5E5CD515B6C3125F8AF6E4EE646174E8CF0B46FD19828DCE8CDA3B3A044A74F0E769C5FA8CB87AB6FC303C8BA3785FAC64AF5424764E128FECAE4CC72932BB65C8C121A0F41C1707D94688ED66335DC6AE12288BF2055523C0C26863D2CD4AC454A29EEC183CEF0375334B579"/>
          <p:cNvSpPr/>
          <p:nvPr/>
        </p:nvSpPr>
        <p:spPr>
          <a:xfrm rot="16200000">
            <a:off x="10426914" y="7729"/>
            <a:ext cx="1772817" cy="1757355"/>
          </a:xfrm>
          <a:custGeom>
            <a:avLst/>
            <a:gdLst>
              <a:gd name="connsiteX0" fmla="*/ 4050301 w 5497007"/>
              <a:gd name="connsiteY0" fmla="*/ 0 h 5126934"/>
              <a:gd name="connsiteX1" fmla="*/ 5442930 w 5497007"/>
              <a:gd name="connsiteY1" fmla="*/ 245771 h 5126934"/>
              <a:gd name="connsiteX2" fmla="*/ 5497007 w 5497007"/>
              <a:gd name="connsiteY2" fmla="*/ 267093 h 5126934"/>
              <a:gd name="connsiteX3" fmla="*/ 5497007 w 5497007"/>
              <a:gd name="connsiteY3" fmla="*/ 2751634 h 5126934"/>
              <a:gd name="connsiteX4" fmla="*/ 5426522 w 5497007"/>
              <a:gd name="connsiteY4" fmla="*/ 2674081 h 5126934"/>
              <a:gd name="connsiteX5" fmla="*/ 4050301 w 5497007"/>
              <a:gd name="connsiteY5" fmla="*/ 2104031 h 5126934"/>
              <a:gd name="connsiteX6" fmla="*/ 2104031 w 5497007"/>
              <a:gd name="connsiteY6" fmla="*/ 4050301 h 5126934"/>
              <a:gd name="connsiteX7" fmla="*/ 2338936 w 5497007"/>
              <a:gd name="connsiteY7" fmla="*/ 4978009 h 5126934"/>
              <a:gd name="connsiteX8" fmla="*/ 2429410 w 5497007"/>
              <a:gd name="connsiteY8" fmla="*/ 5126934 h 5126934"/>
              <a:gd name="connsiteX9" fmla="*/ 145802 w 5497007"/>
              <a:gd name="connsiteY9" fmla="*/ 5126934 h 5126934"/>
              <a:gd name="connsiteX10" fmla="*/ 127515 w 5497007"/>
              <a:gd name="connsiteY10" fmla="*/ 5062534 h 5126934"/>
              <a:gd name="connsiteX11" fmla="*/ 0 w 5497007"/>
              <a:gd name="connsiteY11" fmla="*/ 4050301 h 5126934"/>
              <a:gd name="connsiteX12" fmla="*/ 4050301 w 5497007"/>
              <a:gd name="connsiteY12" fmla="*/ 0 h 51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97007" h="5126934">
                <a:moveTo>
                  <a:pt x="4050301" y="0"/>
                </a:moveTo>
                <a:cubicBezTo>
                  <a:pt x="4539627" y="0"/>
                  <a:pt x="5008686" y="86773"/>
                  <a:pt x="5442930" y="245771"/>
                </a:cubicBezTo>
                <a:lnTo>
                  <a:pt x="5497007" y="267093"/>
                </a:lnTo>
                <a:lnTo>
                  <a:pt x="5497007" y="2751634"/>
                </a:lnTo>
                <a:lnTo>
                  <a:pt x="5426522" y="2674081"/>
                </a:lnTo>
                <a:cubicBezTo>
                  <a:pt x="5074316" y="2321875"/>
                  <a:pt x="4587749" y="2104031"/>
                  <a:pt x="4050301" y="2104031"/>
                </a:cubicBezTo>
                <a:cubicBezTo>
                  <a:pt x="2975406" y="2104031"/>
                  <a:pt x="2104031" y="2975406"/>
                  <a:pt x="2104031" y="4050301"/>
                </a:cubicBezTo>
                <a:cubicBezTo>
                  <a:pt x="2104031" y="4386206"/>
                  <a:pt x="2189126" y="4702236"/>
                  <a:pt x="2338936" y="4978009"/>
                </a:cubicBezTo>
                <a:lnTo>
                  <a:pt x="2429410" y="5126934"/>
                </a:lnTo>
                <a:lnTo>
                  <a:pt x="145802" y="5126934"/>
                </a:lnTo>
                <a:lnTo>
                  <a:pt x="127515" y="5062534"/>
                </a:lnTo>
                <a:cubicBezTo>
                  <a:pt x="44272" y="4738998"/>
                  <a:pt x="0" y="4399820"/>
                  <a:pt x="0" y="4050301"/>
                </a:cubicBezTo>
                <a:cubicBezTo>
                  <a:pt x="0" y="1813382"/>
                  <a:pt x="1813382" y="0"/>
                  <a:pt x="4050301" y="0"/>
                </a:cubicBezTo>
                <a:close/>
              </a:path>
            </a:pathLst>
          </a:custGeom>
          <a:solidFill>
            <a:srgbClr val="A7EBF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pic>
        <p:nvPicPr>
          <p:cNvPr id="113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10865777" y="5749085"/>
            <a:ext cx="1784373" cy="1784373"/>
          </a:xfrm>
          <a:prstGeom prst="rect">
            <a:avLst/>
          </a:prstGeom>
          <a:ln>
            <a:noFill/>
          </a:ln>
        </p:spPr>
      </p:pic>
      <p:pic>
        <p:nvPicPr>
          <p:cNvPr id="114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10569984" y="5320141"/>
            <a:ext cx="958827" cy="1537859"/>
          </a:xfrm>
          <a:prstGeom prst="rect">
            <a:avLst/>
          </a:prstGeom>
          <a:ln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890" y="1124585"/>
            <a:ext cx="10250398" cy="4863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文本框 6"/>
          <p:cNvSpPr txBox="1"/>
          <p:nvPr/>
        </p:nvSpPr>
        <p:spPr>
          <a:xfrm>
            <a:off x="1220561" y="453510"/>
            <a:ext cx="10479741" cy="72742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思源黑体 CN Normal" panose="020B0400000000000000" pitchFamily="34" charset="-122"/>
                <a:cs typeface="+mn-ea"/>
                <a:sym typeface="宋体" panose="02010600030101010101" pitchFamily="2" charset="-122"/>
              </a:rPr>
              <a:t>实习答辩内容概述</a:t>
            </a:r>
            <a:endParaRPr lang="zh-CN" altLang="zh-CN" sz="2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思源黑体 CN Normal" panose="020B0400000000000000" pitchFamily="34" charset="-122"/>
              <a:cs typeface="+mn-ea"/>
              <a:sym typeface="宋体" panose="02010600030101010101" pitchFamily="2" charset="-122"/>
            </a:endParaRPr>
          </a:p>
        </p:txBody>
      </p:sp>
      <p:pic>
        <p:nvPicPr>
          <p:cNvPr id="111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491698" y="453510"/>
            <a:ext cx="490941" cy="787419"/>
          </a:xfrm>
          <a:prstGeom prst="rect">
            <a:avLst/>
          </a:prstGeom>
          <a:ln>
            <a:noFill/>
          </a:ln>
        </p:spPr>
      </p:pic>
      <p:sp>
        <p:nvSpPr>
          <p:cNvPr id="112" name="Freeform: Shape 108" descr="e7d195523061f1c0c2b73831c94a3edc981f60e396d3e182073EE1468018468A7F192AE5E5CD515B6C3125F8AF6E4EE646174E8CF0B46FD19828DCE8CDA3B3A044A74F0E769C5FA8CB87AB6FC303C8BA3785FAC64AF5424764E128FECAE4CC72932BB65C8C121A0F41C1707D94688ED66335DC6AE12288BF2055523C0C26863D2CD4AC454A29EEC183CEF0375334B579"/>
          <p:cNvSpPr/>
          <p:nvPr/>
        </p:nvSpPr>
        <p:spPr>
          <a:xfrm rot="16200000">
            <a:off x="10426914" y="7729"/>
            <a:ext cx="1772817" cy="1757355"/>
          </a:xfrm>
          <a:custGeom>
            <a:avLst/>
            <a:gdLst>
              <a:gd name="connsiteX0" fmla="*/ 4050301 w 5497007"/>
              <a:gd name="connsiteY0" fmla="*/ 0 h 5126934"/>
              <a:gd name="connsiteX1" fmla="*/ 5442930 w 5497007"/>
              <a:gd name="connsiteY1" fmla="*/ 245771 h 5126934"/>
              <a:gd name="connsiteX2" fmla="*/ 5497007 w 5497007"/>
              <a:gd name="connsiteY2" fmla="*/ 267093 h 5126934"/>
              <a:gd name="connsiteX3" fmla="*/ 5497007 w 5497007"/>
              <a:gd name="connsiteY3" fmla="*/ 2751634 h 5126934"/>
              <a:gd name="connsiteX4" fmla="*/ 5426522 w 5497007"/>
              <a:gd name="connsiteY4" fmla="*/ 2674081 h 5126934"/>
              <a:gd name="connsiteX5" fmla="*/ 4050301 w 5497007"/>
              <a:gd name="connsiteY5" fmla="*/ 2104031 h 5126934"/>
              <a:gd name="connsiteX6" fmla="*/ 2104031 w 5497007"/>
              <a:gd name="connsiteY6" fmla="*/ 4050301 h 5126934"/>
              <a:gd name="connsiteX7" fmla="*/ 2338936 w 5497007"/>
              <a:gd name="connsiteY7" fmla="*/ 4978009 h 5126934"/>
              <a:gd name="connsiteX8" fmla="*/ 2429410 w 5497007"/>
              <a:gd name="connsiteY8" fmla="*/ 5126934 h 5126934"/>
              <a:gd name="connsiteX9" fmla="*/ 145802 w 5497007"/>
              <a:gd name="connsiteY9" fmla="*/ 5126934 h 5126934"/>
              <a:gd name="connsiteX10" fmla="*/ 127515 w 5497007"/>
              <a:gd name="connsiteY10" fmla="*/ 5062534 h 5126934"/>
              <a:gd name="connsiteX11" fmla="*/ 0 w 5497007"/>
              <a:gd name="connsiteY11" fmla="*/ 4050301 h 5126934"/>
              <a:gd name="connsiteX12" fmla="*/ 4050301 w 5497007"/>
              <a:gd name="connsiteY12" fmla="*/ 0 h 51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97007" h="5126934">
                <a:moveTo>
                  <a:pt x="4050301" y="0"/>
                </a:moveTo>
                <a:cubicBezTo>
                  <a:pt x="4539627" y="0"/>
                  <a:pt x="5008686" y="86773"/>
                  <a:pt x="5442930" y="245771"/>
                </a:cubicBezTo>
                <a:lnTo>
                  <a:pt x="5497007" y="267093"/>
                </a:lnTo>
                <a:lnTo>
                  <a:pt x="5497007" y="2751634"/>
                </a:lnTo>
                <a:lnTo>
                  <a:pt x="5426522" y="2674081"/>
                </a:lnTo>
                <a:cubicBezTo>
                  <a:pt x="5074316" y="2321875"/>
                  <a:pt x="4587749" y="2104031"/>
                  <a:pt x="4050301" y="2104031"/>
                </a:cubicBezTo>
                <a:cubicBezTo>
                  <a:pt x="2975406" y="2104031"/>
                  <a:pt x="2104031" y="2975406"/>
                  <a:pt x="2104031" y="4050301"/>
                </a:cubicBezTo>
                <a:cubicBezTo>
                  <a:pt x="2104031" y="4386206"/>
                  <a:pt x="2189126" y="4702236"/>
                  <a:pt x="2338936" y="4978009"/>
                </a:cubicBezTo>
                <a:lnTo>
                  <a:pt x="2429410" y="5126934"/>
                </a:lnTo>
                <a:lnTo>
                  <a:pt x="145802" y="5126934"/>
                </a:lnTo>
                <a:lnTo>
                  <a:pt x="127515" y="5062534"/>
                </a:lnTo>
                <a:cubicBezTo>
                  <a:pt x="44272" y="4738998"/>
                  <a:pt x="0" y="4399820"/>
                  <a:pt x="0" y="4050301"/>
                </a:cubicBezTo>
                <a:cubicBezTo>
                  <a:pt x="0" y="1813382"/>
                  <a:pt x="1813382" y="0"/>
                  <a:pt x="4050301" y="0"/>
                </a:cubicBezTo>
                <a:close/>
              </a:path>
            </a:pathLst>
          </a:custGeom>
          <a:solidFill>
            <a:srgbClr val="A7EBF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pic>
        <p:nvPicPr>
          <p:cNvPr id="113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10865777" y="5749085"/>
            <a:ext cx="1784373" cy="1784373"/>
          </a:xfrm>
          <a:prstGeom prst="rect">
            <a:avLst/>
          </a:prstGeom>
          <a:ln>
            <a:noFill/>
          </a:ln>
        </p:spPr>
      </p:pic>
      <p:pic>
        <p:nvPicPr>
          <p:cNvPr id="114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10569984" y="5320141"/>
            <a:ext cx="958827" cy="1537859"/>
          </a:xfrm>
          <a:prstGeom prst="rect">
            <a:avLst/>
          </a:prstGeom>
          <a:ln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650" y="1052830"/>
            <a:ext cx="2621915" cy="56775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110" y="1052830"/>
            <a:ext cx="2646680" cy="5732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文本框 6"/>
          <p:cNvSpPr txBox="1"/>
          <p:nvPr/>
        </p:nvSpPr>
        <p:spPr>
          <a:xfrm>
            <a:off x="1220561" y="453510"/>
            <a:ext cx="10479741" cy="72742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思源黑体 CN Normal" panose="020B0400000000000000" pitchFamily="34" charset="-122"/>
                <a:cs typeface="+mn-ea"/>
                <a:sym typeface="宋体" panose="02010600030101010101" pitchFamily="2" charset="-122"/>
              </a:rPr>
              <a:t>实习答辩内容概述</a:t>
            </a:r>
            <a:endParaRPr lang="zh-CN" altLang="zh-CN" sz="2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思源黑体 CN Normal" panose="020B0400000000000000" pitchFamily="34" charset="-122"/>
              <a:cs typeface="+mn-ea"/>
              <a:sym typeface="宋体" panose="02010600030101010101" pitchFamily="2" charset="-122"/>
            </a:endParaRPr>
          </a:p>
        </p:txBody>
      </p:sp>
      <p:pic>
        <p:nvPicPr>
          <p:cNvPr id="111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491698" y="453510"/>
            <a:ext cx="490941" cy="787419"/>
          </a:xfrm>
          <a:prstGeom prst="rect">
            <a:avLst/>
          </a:prstGeom>
          <a:ln>
            <a:noFill/>
          </a:ln>
        </p:spPr>
      </p:pic>
      <p:sp>
        <p:nvSpPr>
          <p:cNvPr id="112" name="Freeform: Shape 108" descr="e7d195523061f1c0c2b73831c94a3edc981f60e396d3e182073EE1468018468A7F192AE5E5CD515B6C3125F8AF6E4EE646174E8CF0B46FD19828DCE8CDA3B3A044A74F0E769C5FA8CB87AB6FC303C8BA3785FAC64AF5424764E128FECAE4CC72932BB65C8C121A0F41C1707D94688ED66335DC6AE12288BF2055523C0C26863D2CD4AC454A29EEC183CEF0375334B579"/>
          <p:cNvSpPr/>
          <p:nvPr/>
        </p:nvSpPr>
        <p:spPr>
          <a:xfrm rot="16200000">
            <a:off x="10426914" y="7729"/>
            <a:ext cx="1772817" cy="1757355"/>
          </a:xfrm>
          <a:custGeom>
            <a:avLst/>
            <a:gdLst>
              <a:gd name="connsiteX0" fmla="*/ 4050301 w 5497007"/>
              <a:gd name="connsiteY0" fmla="*/ 0 h 5126934"/>
              <a:gd name="connsiteX1" fmla="*/ 5442930 w 5497007"/>
              <a:gd name="connsiteY1" fmla="*/ 245771 h 5126934"/>
              <a:gd name="connsiteX2" fmla="*/ 5497007 w 5497007"/>
              <a:gd name="connsiteY2" fmla="*/ 267093 h 5126934"/>
              <a:gd name="connsiteX3" fmla="*/ 5497007 w 5497007"/>
              <a:gd name="connsiteY3" fmla="*/ 2751634 h 5126934"/>
              <a:gd name="connsiteX4" fmla="*/ 5426522 w 5497007"/>
              <a:gd name="connsiteY4" fmla="*/ 2674081 h 5126934"/>
              <a:gd name="connsiteX5" fmla="*/ 4050301 w 5497007"/>
              <a:gd name="connsiteY5" fmla="*/ 2104031 h 5126934"/>
              <a:gd name="connsiteX6" fmla="*/ 2104031 w 5497007"/>
              <a:gd name="connsiteY6" fmla="*/ 4050301 h 5126934"/>
              <a:gd name="connsiteX7" fmla="*/ 2338936 w 5497007"/>
              <a:gd name="connsiteY7" fmla="*/ 4978009 h 5126934"/>
              <a:gd name="connsiteX8" fmla="*/ 2429410 w 5497007"/>
              <a:gd name="connsiteY8" fmla="*/ 5126934 h 5126934"/>
              <a:gd name="connsiteX9" fmla="*/ 145802 w 5497007"/>
              <a:gd name="connsiteY9" fmla="*/ 5126934 h 5126934"/>
              <a:gd name="connsiteX10" fmla="*/ 127515 w 5497007"/>
              <a:gd name="connsiteY10" fmla="*/ 5062534 h 5126934"/>
              <a:gd name="connsiteX11" fmla="*/ 0 w 5497007"/>
              <a:gd name="connsiteY11" fmla="*/ 4050301 h 5126934"/>
              <a:gd name="connsiteX12" fmla="*/ 4050301 w 5497007"/>
              <a:gd name="connsiteY12" fmla="*/ 0 h 51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97007" h="5126934">
                <a:moveTo>
                  <a:pt x="4050301" y="0"/>
                </a:moveTo>
                <a:cubicBezTo>
                  <a:pt x="4539627" y="0"/>
                  <a:pt x="5008686" y="86773"/>
                  <a:pt x="5442930" y="245771"/>
                </a:cubicBezTo>
                <a:lnTo>
                  <a:pt x="5497007" y="267093"/>
                </a:lnTo>
                <a:lnTo>
                  <a:pt x="5497007" y="2751634"/>
                </a:lnTo>
                <a:lnTo>
                  <a:pt x="5426522" y="2674081"/>
                </a:lnTo>
                <a:cubicBezTo>
                  <a:pt x="5074316" y="2321875"/>
                  <a:pt x="4587749" y="2104031"/>
                  <a:pt x="4050301" y="2104031"/>
                </a:cubicBezTo>
                <a:cubicBezTo>
                  <a:pt x="2975406" y="2104031"/>
                  <a:pt x="2104031" y="2975406"/>
                  <a:pt x="2104031" y="4050301"/>
                </a:cubicBezTo>
                <a:cubicBezTo>
                  <a:pt x="2104031" y="4386206"/>
                  <a:pt x="2189126" y="4702236"/>
                  <a:pt x="2338936" y="4978009"/>
                </a:cubicBezTo>
                <a:lnTo>
                  <a:pt x="2429410" y="5126934"/>
                </a:lnTo>
                <a:lnTo>
                  <a:pt x="145802" y="5126934"/>
                </a:lnTo>
                <a:lnTo>
                  <a:pt x="127515" y="5062534"/>
                </a:lnTo>
                <a:cubicBezTo>
                  <a:pt x="44272" y="4738998"/>
                  <a:pt x="0" y="4399820"/>
                  <a:pt x="0" y="4050301"/>
                </a:cubicBezTo>
                <a:cubicBezTo>
                  <a:pt x="0" y="1813382"/>
                  <a:pt x="1813382" y="0"/>
                  <a:pt x="4050301" y="0"/>
                </a:cubicBezTo>
                <a:close/>
              </a:path>
            </a:pathLst>
          </a:custGeom>
          <a:solidFill>
            <a:srgbClr val="A7EBF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pic>
        <p:nvPicPr>
          <p:cNvPr id="113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10865777" y="5749085"/>
            <a:ext cx="1784373" cy="1784373"/>
          </a:xfrm>
          <a:prstGeom prst="rect">
            <a:avLst/>
          </a:prstGeom>
          <a:ln>
            <a:noFill/>
          </a:ln>
        </p:spPr>
      </p:pic>
      <p:pic>
        <p:nvPicPr>
          <p:cNvPr id="114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10569984" y="5320141"/>
            <a:ext cx="958827" cy="1537859"/>
          </a:xfrm>
          <a:prstGeom prst="rect">
            <a:avLst/>
          </a:prstGeom>
          <a:ln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60" y="1268730"/>
            <a:ext cx="9354820" cy="47472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文本框 6"/>
          <p:cNvSpPr txBox="1"/>
          <p:nvPr/>
        </p:nvSpPr>
        <p:spPr>
          <a:xfrm>
            <a:off x="1220561" y="453510"/>
            <a:ext cx="10479741" cy="72742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思源黑体 CN Normal" panose="020B0400000000000000" pitchFamily="34" charset="-122"/>
                <a:cs typeface="+mn-ea"/>
                <a:sym typeface="宋体" panose="02010600030101010101" pitchFamily="2" charset="-122"/>
              </a:rPr>
              <a:t>实习答辩内容概述</a:t>
            </a:r>
            <a:endParaRPr lang="zh-CN" altLang="zh-CN" sz="2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思源黑体 CN Normal" panose="020B0400000000000000" pitchFamily="34" charset="-122"/>
              <a:cs typeface="+mn-ea"/>
              <a:sym typeface="宋体" panose="02010600030101010101" pitchFamily="2" charset="-122"/>
            </a:endParaRPr>
          </a:p>
        </p:txBody>
      </p:sp>
      <p:pic>
        <p:nvPicPr>
          <p:cNvPr id="111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491698" y="453510"/>
            <a:ext cx="490941" cy="787419"/>
          </a:xfrm>
          <a:prstGeom prst="rect">
            <a:avLst/>
          </a:prstGeom>
          <a:ln>
            <a:noFill/>
          </a:ln>
        </p:spPr>
      </p:pic>
      <p:sp>
        <p:nvSpPr>
          <p:cNvPr id="112" name="Freeform: Shape 108" descr="e7d195523061f1c0c2b73831c94a3edc981f60e396d3e182073EE1468018468A7F192AE5E5CD515B6C3125F8AF6E4EE646174E8CF0B46FD19828DCE8CDA3B3A044A74F0E769C5FA8CB87AB6FC303C8BA3785FAC64AF5424764E128FECAE4CC72932BB65C8C121A0F41C1707D94688ED66335DC6AE12288BF2055523C0C26863D2CD4AC454A29EEC183CEF0375334B579"/>
          <p:cNvSpPr/>
          <p:nvPr/>
        </p:nvSpPr>
        <p:spPr>
          <a:xfrm rot="16200000">
            <a:off x="10426914" y="7729"/>
            <a:ext cx="1772817" cy="1757355"/>
          </a:xfrm>
          <a:custGeom>
            <a:avLst/>
            <a:gdLst>
              <a:gd name="connsiteX0" fmla="*/ 4050301 w 5497007"/>
              <a:gd name="connsiteY0" fmla="*/ 0 h 5126934"/>
              <a:gd name="connsiteX1" fmla="*/ 5442930 w 5497007"/>
              <a:gd name="connsiteY1" fmla="*/ 245771 h 5126934"/>
              <a:gd name="connsiteX2" fmla="*/ 5497007 w 5497007"/>
              <a:gd name="connsiteY2" fmla="*/ 267093 h 5126934"/>
              <a:gd name="connsiteX3" fmla="*/ 5497007 w 5497007"/>
              <a:gd name="connsiteY3" fmla="*/ 2751634 h 5126934"/>
              <a:gd name="connsiteX4" fmla="*/ 5426522 w 5497007"/>
              <a:gd name="connsiteY4" fmla="*/ 2674081 h 5126934"/>
              <a:gd name="connsiteX5" fmla="*/ 4050301 w 5497007"/>
              <a:gd name="connsiteY5" fmla="*/ 2104031 h 5126934"/>
              <a:gd name="connsiteX6" fmla="*/ 2104031 w 5497007"/>
              <a:gd name="connsiteY6" fmla="*/ 4050301 h 5126934"/>
              <a:gd name="connsiteX7" fmla="*/ 2338936 w 5497007"/>
              <a:gd name="connsiteY7" fmla="*/ 4978009 h 5126934"/>
              <a:gd name="connsiteX8" fmla="*/ 2429410 w 5497007"/>
              <a:gd name="connsiteY8" fmla="*/ 5126934 h 5126934"/>
              <a:gd name="connsiteX9" fmla="*/ 145802 w 5497007"/>
              <a:gd name="connsiteY9" fmla="*/ 5126934 h 5126934"/>
              <a:gd name="connsiteX10" fmla="*/ 127515 w 5497007"/>
              <a:gd name="connsiteY10" fmla="*/ 5062534 h 5126934"/>
              <a:gd name="connsiteX11" fmla="*/ 0 w 5497007"/>
              <a:gd name="connsiteY11" fmla="*/ 4050301 h 5126934"/>
              <a:gd name="connsiteX12" fmla="*/ 4050301 w 5497007"/>
              <a:gd name="connsiteY12" fmla="*/ 0 h 51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97007" h="5126934">
                <a:moveTo>
                  <a:pt x="4050301" y="0"/>
                </a:moveTo>
                <a:cubicBezTo>
                  <a:pt x="4539627" y="0"/>
                  <a:pt x="5008686" y="86773"/>
                  <a:pt x="5442930" y="245771"/>
                </a:cubicBezTo>
                <a:lnTo>
                  <a:pt x="5497007" y="267093"/>
                </a:lnTo>
                <a:lnTo>
                  <a:pt x="5497007" y="2751634"/>
                </a:lnTo>
                <a:lnTo>
                  <a:pt x="5426522" y="2674081"/>
                </a:lnTo>
                <a:cubicBezTo>
                  <a:pt x="5074316" y="2321875"/>
                  <a:pt x="4587749" y="2104031"/>
                  <a:pt x="4050301" y="2104031"/>
                </a:cubicBezTo>
                <a:cubicBezTo>
                  <a:pt x="2975406" y="2104031"/>
                  <a:pt x="2104031" y="2975406"/>
                  <a:pt x="2104031" y="4050301"/>
                </a:cubicBezTo>
                <a:cubicBezTo>
                  <a:pt x="2104031" y="4386206"/>
                  <a:pt x="2189126" y="4702236"/>
                  <a:pt x="2338936" y="4978009"/>
                </a:cubicBezTo>
                <a:lnTo>
                  <a:pt x="2429410" y="5126934"/>
                </a:lnTo>
                <a:lnTo>
                  <a:pt x="145802" y="5126934"/>
                </a:lnTo>
                <a:lnTo>
                  <a:pt x="127515" y="5062534"/>
                </a:lnTo>
                <a:cubicBezTo>
                  <a:pt x="44272" y="4738998"/>
                  <a:pt x="0" y="4399820"/>
                  <a:pt x="0" y="4050301"/>
                </a:cubicBezTo>
                <a:cubicBezTo>
                  <a:pt x="0" y="1813382"/>
                  <a:pt x="1813382" y="0"/>
                  <a:pt x="4050301" y="0"/>
                </a:cubicBezTo>
                <a:close/>
              </a:path>
            </a:pathLst>
          </a:custGeom>
          <a:solidFill>
            <a:srgbClr val="A7EBF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pic>
        <p:nvPicPr>
          <p:cNvPr id="113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10865777" y="5749085"/>
            <a:ext cx="1784373" cy="1784373"/>
          </a:xfrm>
          <a:prstGeom prst="rect">
            <a:avLst/>
          </a:prstGeom>
          <a:ln>
            <a:noFill/>
          </a:ln>
        </p:spPr>
      </p:pic>
      <p:pic>
        <p:nvPicPr>
          <p:cNvPr id="114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10569984" y="5320141"/>
            <a:ext cx="958827" cy="1537859"/>
          </a:xfrm>
          <a:prstGeom prst="rect">
            <a:avLst/>
          </a:prstGeom>
          <a:ln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60" y="1181100"/>
            <a:ext cx="10193655" cy="4926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文本框 6"/>
          <p:cNvSpPr txBox="1"/>
          <p:nvPr/>
        </p:nvSpPr>
        <p:spPr>
          <a:xfrm>
            <a:off x="1220561" y="453510"/>
            <a:ext cx="10479741" cy="72742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思源黑体 CN Normal" panose="020B0400000000000000" pitchFamily="34" charset="-122"/>
                <a:cs typeface="+mn-ea"/>
                <a:sym typeface="宋体" panose="02010600030101010101" pitchFamily="2" charset="-122"/>
              </a:rPr>
              <a:t>实习答辩内容概述</a:t>
            </a:r>
            <a:endParaRPr lang="zh-CN" altLang="zh-CN" sz="2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思源黑体 CN Normal" panose="020B0400000000000000" pitchFamily="34" charset="-122"/>
              <a:cs typeface="+mn-ea"/>
              <a:sym typeface="宋体" panose="02010600030101010101" pitchFamily="2" charset="-122"/>
            </a:endParaRPr>
          </a:p>
        </p:txBody>
      </p:sp>
      <p:pic>
        <p:nvPicPr>
          <p:cNvPr id="111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491698" y="453510"/>
            <a:ext cx="490941" cy="787419"/>
          </a:xfrm>
          <a:prstGeom prst="rect">
            <a:avLst/>
          </a:prstGeom>
          <a:ln>
            <a:noFill/>
          </a:ln>
        </p:spPr>
      </p:pic>
      <p:sp>
        <p:nvSpPr>
          <p:cNvPr id="112" name="Freeform: Shape 108" descr="e7d195523061f1c0c2b73831c94a3edc981f60e396d3e182073EE1468018468A7F192AE5E5CD515B6C3125F8AF6E4EE646174E8CF0B46FD19828DCE8CDA3B3A044A74F0E769C5FA8CB87AB6FC303C8BA3785FAC64AF5424764E128FECAE4CC72932BB65C8C121A0F41C1707D94688ED66335DC6AE12288BF2055523C0C26863D2CD4AC454A29EEC183CEF0375334B579"/>
          <p:cNvSpPr/>
          <p:nvPr/>
        </p:nvSpPr>
        <p:spPr>
          <a:xfrm rot="16200000">
            <a:off x="10426914" y="7729"/>
            <a:ext cx="1772817" cy="1757355"/>
          </a:xfrm>
          <a:custGeom>
            <a:avLst/>
            <a:gdLst>
              <a:gd name="connsiteX0" fmla="*/ 4050301 w 5497007"/>
              <a:gd name="connsiteY0" fmla="*/ 0 h 5126934"/>
              <a:gd name="connsiteX1" fmla="*/ 5442930 w 5497007"/>
              <a:gd name="connsiteY1" fmla="*/ 245771 h 5126934"/>
              <a:gd name="connsiteX2" fmla="*/ 5497007 w 5497007"/>
              <a:gd name="connsiteY2" fmla="*/ 267093 h 5126934"/>
              <a:gd name="connsiteX3" fmla="*/ 5497007 w 5497007"/>
              <a:gd name="connsiteY3" fmla="*/ 2751634 h 5126934"/>
              <a:gd name="connsiteX4" fmla="*/ 5426522 w 5497007"/>
              <a:gd name="connsiteY4" fmla="*/ 2674081 h 5126934"/>
              <a:gd name="connsiteX5" fmla="*/ 4050301 w 5497007"/>
              <a:gd name="connsiteY5" fmla="*/ 2104031 h 5126934"/>
              <a:gd name="connsiteX6" fmla="*/ 2104031 w 5497007"/>
              <a:gd name="connsiteY6" fmla="*/ 4050301 h 5126934"/>
              <a:gd name="connsiteX7" fmla="*/ 2338936 w 5497007"/>
              <a:gd name="connsiteY7" fmla="*/ 4978009 h 5126934"/>
              <a:gd name="connsiteX8" fmla="*/ 2429410 w 5497007"/>
              <a:gd name="connsiteY8" fmla="*/ 5126934 h 5126934"/>
              <a:gd name="connsiteX9" fmla="*/ 145802 w 5497007"/>
              <a:gd name="connsiteY9" fmla="*/ 5126934 h 5126934"/>
              <a:gd name="connsiteX10" fmla="*/ 127515 w 5497007"/>
              <a:gd name="connsiteY10" fmla="*/ 5062534 h 5126934"/>
              <a:gd name="connsiteX11" fmla="*/ 0 w 5497007"/>
              <a:gd name="connsiteY11" fmla="*/ 4050301 h 5126934"/>
              <a:gd name="connsiteX12" fmla="*/ 4050301 w 5497007"/>
              <a:gd name="connsiteY12" fmla="*/ 0 h 51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97007" h="5126934">
                <a:moveTo>
                  <a:pt x="4050301" y="0"/>
                </a:moveTo>
                <a:cubicBezTo>
                  <a:pt x="4539627" y="0"/>
                  <a:pt x="5008686" y="86773"/>
                  <a:pt x="5442930" y="245771"/>
                </a:cubicBezTo>
                <a:lnTo>
                  <a:pt x="5497007" y="267093"/>
                </a:lnTo>
                <a:lnTo>
                  <a:pt x="5497007" y="2751634"/>
                </a:lnTo>
                <a:lnTo>
                  <a:pt x="5426522" y="2674081"/>
                </a:lnTo>
                <a:cubicBezTo>
                  <a:pt x="5074316" y="2321875"/>
                  <a:pt x="4587749" y="2104031"/>
                  <a:pt x="4050301" y="2104031"/>
                </a:cubicBezTo>
                <a:cubicBezTo>
                  <a:pt x="2975406" y="2104031"/>
                  <a:pt x="2104031" y="2975406"/>
                  <a:pt x="2104031" y="4050301"/>
                </a:cubicBezTo>
                <a:cubicBezTo>
                  <a:pt x="2104031" y="4386206"/>
                  <a:pt x="2189126" y="4702236"/>
                  <a:pt x="2338936" y="4978009"/>
                </a:cubicBezTo>
                <a:lnTo>
                  <a:pt x="2429410" y="5126934"/>
                </a:lnTo>
                <a:lnTo>
                  <a:pt x="145802" y="5126934"/>
                </a:lnTo>
                <a:lnTo>
                  <a:pt x="127515" y="5062534"/>
                </a:lnTo>
                <a:cubicBezTo>
                  <a:pt x="44272" y="4738998"/>
                  <a:pt x="0" y="4399820"/>
                  <a:pt x="0" y="4050301"/>
                </a:cubicBezTo>
                <a:cubicBezTo>
                  <a:pt x="0" y="1813382"/>
                  <a:pt x="1813382" y="0"/>
                  <a:pt x="4050301" y="0"/>
                </a:cubicBezTo>
                <a:close/>
              </a:path>
            </a:pathLst>
          </a:custGeom>
          <a:solidFill>
            <a:srgbClr val="A7EBF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pic>
        <p:nvPicPr>
          <p:cNvPr id="113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10865777" y="5749085"/>
            <a:ext cx="1784373" cy="1784373"/>
          </a:xfrm>
          <a:prstGeom prst="rect">
            <a:avLst/>
          </a:prstGeom>
          <a:ln>
            <a:noFill/>
          </a:ln>
        </p:spPr>
      </p:pic>
      <p:pic>
        <p:nvPicPr>
          <p:cNvPr id="114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10569984" y="5320141"/>
            <a:ext cx="958827" cy="1537859"/>
          </a:xfrm>
          <a:prstGeom prst="rect">
            <a:avLst/>
          </a:prstGeom>
          <a:ln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525" y="1240790"/>
            <a:ext cx="9585960" cy="46329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文本框 6"/>
          <p:cNvSpPr txBox="1"/>
          <p:nvPr/>
        </p:nvSpPr>
        <p:spPr>
          <a:xfrm>
            <a:off x="1220561" y="453510"/>
            <a:ext cx="10479741" cy="72742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思源黑体 CN Normal" panose="020B0400000000000000" pitchFamily="34" charset="-122"/>
                <a:cs typeface="+mn-ea"/>
                <a:sym typeface="宋体" panose="02010600030101010101" pitchFamily="2" charset="-122"/>
              </a:rPr>
              <a:t>实习答辩内容概述</a:t>
            </a:r>
            <a:endParaRPr lang="zh-CN" altLang="zh-CN" sz="2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思源黑体 CN Normal" panose="020B0400000000000000" pitchFamily="34" charset="-122"/>
              <a:cs typeface="+mn-ea"/>
              <a:sym typeface="宋体" panose="02010600030101010101" pitchFamily="2" charset="-122"/>
            </a:endParaRPr>
          </a:p>
        </p:txBody>
      </p:sp>
      <p:pic>
        <p:nvPicPr>
          <p:cNvPr id="111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491698" y="453510"/>
            <a:ext cx="490941" cy="787419"/>
          </a:xfrm>
          <a:prstGeom prst="rect">
            <a:avLst/>
          </a:prstGeom>
          <a:ln>
            <a:noFill/>
          </a:ln>
        </p:spPr>
      </p:pic>
      <p:sp>
        <p:nvSpPr>
          <p:cNvPr id="112" name="Freeform: Shape 108" descr="e7d195523061f1c0c2b73831c94a3edc981f60e396d3e182073EE1468018468A7F192AE5E5CD515B6C3125F8AF6E4EE646174E8CF0B46FD19828DCE8CDA3B3A044A74F0E769C5FA8CB87AB6FC303C8BA3785FAC64AF5424764E128FECAE4CC72932BB65C8C121A0F41C1707D94688ED66335DC6AE12288BF2055523C0C26863D2CD4AC454A29EEC183CEF0375334B579"/>
          <p:cNvSpPr/>
          <p:nvPr/>
        </p:nvSpPr>
        <p:spPr>
          <a:xfrm rot="16200000">
            <a:off x="10426914" y="7729"/>
            <a:ext cx="1772817" cy="1757355"/>
          </a:xfrm>
          <a:custGeom>
            <a:avLst/>
            <a:gdLst>
              <a:gd name="connsiteX0" fmla="*/ 4050301 w 5497007"/>
              <a:gd name="connsiteY0" fmla="*/ 0 h 5126934"/>
              <a:gd name="connsiteX1" fmla="*/ 5442930 w 5497007"/>
              <a:gd name="connsiteY1" fmla="*/ 245771 h 5126934"/>
              <a:gd name="connsiteX2" fmla="*/ 5497007 w 5497007"/>
              <a:gd name="connsiteY2" fmla="*/ 267093 h 5126934"/>
              <a:gd name="connsiteX3" fmla="*/ 5497007 w 5497007"/>
              <a:gd name="connsiteY3" fmla="*/ 2751634 h 5126934"/>
              <a:gd name="connsiteX4" fmla="*/ 5426522 w 5497007"/>
              <a:gd name="connsiteY4" fmla="*/ 2674081 h 5126934"/>
              <a:gd name="connsiteX5" fmla="*/ 4050301 w 5497007"/>
              <a:gd name="connsiteY5" fmla="*/ 2104031 h 5126934"/>
              <a:gd name="connsiteX6" fmla="*/ 2104031 w 5497007"/>
              <a:gd name="connsiteY6" fmla="*/ 4050301 h 5126934"/>
              <a:gd name="connsiteX7" fmla="*/ 2338936 w 5497007"/>
              <a:gd name="connsiteY7" fmla="*/ 4978009 h 5126934"/>
              <a:gd name="connsiteX8" fmla="*/ 2429410 w 5497007"/>
              <a:gd name="connsiteY8" fmla="*/ 5126934 h 5126934"/>
              <a:gd name="connsiteX9" fmla="*/ 145802 w 5497007"/>
              <a:gd name="connsiteY9" fmla="*/ 5126934 h 5126934"/>
              <a:gd name="connsiteX10" fmla="*/ 127515 w 5497007"/>
              <a:gd name="connsiteY10" fmla="*/ 5062534 h 5126934"/>
              <a:gd name="connsiteX11" fmla="*/ 0 w 5497007"/>
              <a:gd name="connsiteY11" fmla="*/ 4050301 h 5126934"/>
              <a:gd name="connsiteX12" fmla="*/ 4050301 w 5497007"/>
              <a:gd name="connsiteY12" fmla="*/ 0 h 51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97007" h="5126934">
                <a:moveTo>
                  <a:pt x="4050301" y="0"/>
                </a:moveTo>
                <a:cubicBezTo>
                  <a:pt x="4539627" y="0"/>
                  <a:pt x="5008686" y="86773"/>
                  <a:pt x="5442930" y="245771"/>
                </a:cubicBezTo>
                <a:lnTo>
                  <a:pt x="5497007" y="267093"/>
                </a:lnTo>
                <a:lnTo>
                  <a:pt x="5497007" y="2751634"/>
                </a:lnTo>
                <a:lnTo>
                  <a:pt x="5426522" y="2674081"/>
                </a:lnTo>
                <a:cubicBezTo>
                  <a:pt x="5074316" y="2321875"/>
                  <a:pt x="4587749" y="2104031"/>
                  <a:pt x="4050301" y="2104031"/>
                </a:cubicBezTo>
                <a:cubicBezTo>
                  <a:pt x="2975406" y="2104031"/>
                  <a:pt x="2104031" y="2975406"/>
                  <a:pt x="2104031" y="4050301"/>
                </a:cubicBezTo>
                <a:cubicBezTo>
                  <a:pt x="2104031" y="4386206"/>
                  <a:pt x="2189126" y="4702236"/>
                  <a:pt x="2338936" y="4978009"/>
                </a:cubicBezTo>
                <a:lnTo>
                  <a:pt x="2429410" y="5126934"/>
                </a:lnTo>
                <a:lnTo>
                  <a:pt x="145802" y="5126934"/>
                </a:lnTo>
                <a:lnTo>
                  <a:pt x="127515" y="5062534"/>
                </a:lnTo>
                <a:cubicBezTo>
                  <a:pt x="44272" y="4738998"/>
                  <a:pt x="0" y="4399820"/>
                  <a:pt x="0" y="4050301"/>
                </a:cubicBezTo>
                <a:cubicBezTo>
                  <a:pt x="0" y="1813382"/>
                  <a:pt x="1813382" y="0"/>
                  <a:pt x="4050301" y="0"/>
                </a:cubicBezTo>
                <a:close/>
              </a:path>
            </a:pathLst>
          </a:custGeom>
          <a:solidFill>
            <a:srgbClr val="A7EBF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pic>
        <p:nvPicPr>
          <p:cNvPr id="113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10865777" y="5749085"/>
            <a:ext cx="1784373" cy="1784373"/>
          </a:xfrm>
          <a:prstGeom prst="rect">
            <a:avLst/>
          </a:prstGeom>
          <a:ln>
            <a:noFill/>
          </a:ln>
        </p:spPr>
      </p:pic>
      <p:pic>
        <p:nvPicPr>
          <p:cNvPr id="114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10569984" y="5320141"/>
            <a:ext cx="958827" cy="1537859"/>
          </a:xfrm>
          <a:prstGeom prst="rect">
            <a:avLst/>
          </a:prstGeom>
          <a:ln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245" y="1123315"/>
            <a:ext cx="9573260" cy="4626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文本框 6"/>
          <p:cNvSpPr txBox="1"/>
          <p:nvPr/>
        </p:nvSpPr>
        <p:spPr>
          <a:xfrm>
            <a:off x="1220561" y="453510"/>
            <a:ext cx="10479741" cy="72742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思源黑体 CN Normal" panose="020B0400000000000000" pitchFamily="34" charset="-122"/>
                <a:cs typeface="+mn-ea"/>
                <a:sym typeface="宋体" panose="02010600030101010101" pitchFamily="2" charset="-122"/>
              </a:rPr>
              <a:t>实习答辩内容概述</a:t>
            </a:r>
            <a:endParaRPr lang="zh-CN" altLang="zh-CN" sz="2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思源黑体 CN Normal" panose="020B0400000000000000" pitchFamily="34" charset="-122"/>
              <a:cs typeface="+mn-ea"/>
              <a:sym typeface="宋体" panose="02010600030101010101" pitchFamily="2" charset="-122"/>
            </a:endParaRPr>
          </a:p>
        </p:txBody>
      </p:sp>
      <p:pic>
        <p:nvPicPr>
          <p:cNvPr id="111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491698" y="453510"/>
            <a:ext cx="490941" cy="787419"/>
          </a:xfrm>
          <a:prstGeom prst="rect">
            <a:avLst/>
          </a:prstGeom>
          <a:ln>
            <a:noFill/>
          </a:ln>
        </p:spPr>
      </p:pic>
      <p:sp>
        <p:nvSpPr>
          <p:cNvPr id="112" name="Freeform: Shape 108" descr="e7d195523061f1c0c2b73831c94a3edc981f60e396d3e182073EE1468018468A7F192AE5E5CD515B6C3125F8AF6E4EE646174E8CF0B46FD19828DCE8CDA3B3A044A74F0E769C5FA8CB87AB6FC303C8BA3785FAC64AF5424764E128FECAE4CC72932BB65C8C121A0F41C1707D94688ED66335DC6AE12288BF2055523C0C26863D2CD4AC454A29EEC183CEF0375334B579"/>
          <p:cNvSpPr/>
          <p:nvPr/>
        </p:nvSpPr>
        <p:spPr>
          <a:xfrm rot="16200000">
            <a:off x="10426914" y="7729"/>
            <a:ext cx="1772817" cy="1757355"/>
          </a:xfrm>
          <a:custGeom>
            <a:avLst/>
            <a:gdLst>
              <a:gd name="connsiteX0" fmla="*/ 4050301 w 5497007"/>
              <a:gd name="connsiteY0" fmla="*/ 0 h 5126934"/>
              <a:gd name="connsiteX1" fmla="*/ 5442930 w 5497007"/>
              <a:gd name="connsiteY1" fmla="*/ 245771 h 5126934"/>
              <a:gd name="connsiteX2" fmla="*/ 5497007 w 5497007"/>
              <a:gd name="connsiteY2" fmla="*/ 267093 h 5126934"/>
              <a:gd name="connsiteX3" fmla="*/ 5497007 w 5497007"/>
              <a:gd name="connsiteY3" fmla="*/ 2751634 h 5126934"/>
              <a:gd name="connsiteX4" fmla="*/ 5426522 w 5497007"/>
              <a:gd name="connsiteY4" fmla="*/ 2674081 h 5126934"/>
              <a:gd name="connsiteX5" fmla="*/ 4050301 w 5497007"/>
              <a:gd name="connsiteY5" fmla="*/ 2104031 h 5126934"/>
              <a:gd name="connsiteX6" fmla="*/ 2104031 w 5497007"/>
              <a:gd name="connsiteY6" fmla="*/ 4050301 h 5126934"/>
              <a:gd name="connsiteX7" fmla="*/ 2338936 w 5497007"/>
              <a:gd name="connsiteY7" fmla="*/ 4978009 h 5126934"/>
              <a:gd name="connsiteX8" fmla="*/ 2429410 w 5497007"/>
              <a:gd name="connsiteY8" fmla="*/ 5126934 h 5126934"/>
              <a:gd name="connsiteX9" fmla="*/ 145802 w 5497007"/>
              <a:gd name="connsiteY9" fmla="*/ 5126934 h 5126934"/>
              <a:gd name="connsiteX10" fmla="*/ 127515 w 5497007"/>
              <a:gd name="connsiteY10" fmla="*/ 5062534 h 5126934"/>
              <a:gd name="connsiteX11" fmla="*/ 0 w 5497007"/>
              <a:gd name="connsiteY11" fmla="*/ 4050301 h 5126934"/>
              <a:gd name="connsiteX12" fmla="*/ 4050301 w 5497007"/>
              <a:gd name="connsiteY12" fmla="*/ 0 h 51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97007" h="5126934">
                <a:moveTo>
                  <a:pt x="4050301" y="0"/>
                </a:moveTo>
                <a:cubicBezTo>
                  <a:pt x="4539627" y="0"/>
                  <a:pt x="5008686" y="86773"/>
                  <a:pt x="5442930" y="245771"/>
                </a:cubicBezTo>
                <a:lnTo>
                  <a:pt x="5497007" y="267093"/>
                </a:lnTo>
                <a:lnTo>
                  <a:pt x="5497007" y="2751634"/>
                </a:lnTo>
                <a:lnTo>
                  <a:pt x="5426522" y="2674081"/>
                </a:lnTo>
                <a:cubicBezTo>
                  <a:pt x="5074316" y="2321875"/>
                  <a:pt x="4587749" y="2104031"/>
                  <a:pt x="4050301" y="2104031"/>
                </a:cubicBezTo>
                <a:cubicBezTo>
                  <a:pt x="2975406" y="2104031"/>
                  <a:pt x="2104031" y="2975406"/>
                  <a:pt x="2104031" y="4050301"/>
                </a:cubicBezTo>
                <a:cubicBezTo>
                  <a:pt x="2104031" y="4386206"/>
                  <a:pt x="2189126" y="4702236"/>
                  <a:pt x="2338936" y="4978009"/>
                </a:cubicBezTo>
                <a:lnTo>
                  <a:pt x="2429410" y="5126934"/>
                </a:lnTo>
                <a:lnTo>
                  <a:pt x="145802" y="5126934"/>
                </a:lnTo>
                <a:lnTo>
                  <a:pt x="127515" y="5062534"/>
                </a:lnTo>
                <a:cubicBezTo>
                  <a:pt x="44272" y="4738998"/>
                  <a:pt x="0" y="4399820"/>
                  <a:pt x="0" y="4050301"/>
                </a:cubicBezTo>
                <a:cubicBezTo>
                  <a:pt x="0" y="1813382"/>
                  <a:pt x="1813382" y="0"/>
                  <a:pt x="4050301" y="0"/>
                </a:cubicBezTo>
                <a:close/>
              </a:path>
            </a:pathLst>
          </a:custGeom>
          <a:solidFill>
            <a:srgbClr val="A7EBF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pic>
        <p:nvPicPr>
          <p:cNvPr id="113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10865777" y="5749085"/>
            <a:ext cx="1784373" cy="1784373"/>
          </a:xfrm>
          <a:prstGeom prst="rect">
            <a:avLst/>
          </a:prstGeom>
          <a:ln>
            <a:noFill/>
          </a:ln>
        </p:spPr>
      </p:pic>
      <p:pic>
        <p:nvPicPr>
          <p:cNvPr id="114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10569984" y="5320141"/>
            <a:ext cx="958827" cy="1537859"/>
          </a:xfrm>
          <a:prstGeom prst="rect">
            <a:avLst/>
          </a:prstGeom>
          <a:ln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320" y="1351915"/>
            <a:ext cx="9239250" cy="4465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6"/>
          <p:cNvSpPr txBox="1"/>
          <p:nvPr/>
        </p:nvSpPr>
        <p:spPr>
          <a:xfrm>
            <a:off x="1220561" y="453510"/>
            <a:ext cx="10479741" cy="72742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思源黑体 CN Normal" panose="020B0400000000000000" pitchFamily="34" charset="-122"/>
                <a:cs typeface="+mn-ea"/>
                <a:sym typeface="宋体" panose="02010600030101010101" pitchFamily="2" charset="-122"/>
              </a:rPr>
              <a:t>-</a:t>
            </a:r>
            <a:endParaRPr lang="zh-CN" altLang="zh-CN" sz="2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思源黑体 CN Normal" panose="020B0400000000000000" pitchFamily="34" charset="-122"/>
              <a:cs typeface="+mn-ea"/>
              <a:sym typeface="宋体" panose="02010600030101010101" pitchFamily="2" charset="-122"/>
            </a:endParaRPr>
          </a:p>
        </p:txBody>
      </p:sp>
      <p:pic>
        <p:nvPicPr>
          <p:cNvPr id="29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491698" y="453510"/>
            <a:ext cx="490941" cy="787419"/>
          </a:xfrm>
          <a:prstGeom prst="rect">
            <a:avLst/>
          </a:prstGeom>
          <a:ln>
            <a:noFill/>
          </a:ln>
        </p:spPr>
      </p:pic>
      <p:sp>
        <p:nvSpPr>
          <p:cNvPr id="30" name="Freeform: Shape 108" descr="e7d195523061f1c0c2b73831c94a3edc981f60e396d3e182073EE1468018468A7F192AE5E5CD515B6C3125F8AF6E4EE646174E8CF0B46FD19828DCE8CDA3B3A044A74F0E769C5FA8CB87AB6FC303C8BA3785FAC64AF5424764E128FECAE4CC72932BB65C8C121A0F41C1707D94688ED66335DC6AE12288BF2055523C0C26863D2CD4AC454A29EEC183CEF0375334B579"/>
          <p:cNvSpPr/>
          <p:nvPr/>
        </p:nvSpPr>
        <p:spPr>
          <a:xfrm rot="16200000">
            <a:off x="10426914" y="7729"/>
            <a:ext cx="1772817" cy="1757355"/>
          </a:xfrm>
          <a:custGeom>
            <a:avLst/>
            <a:gdLst>
              <a:gd name="connsiteX0" fmla="*/ 4050301 w 5497007"/>
              <a:gd name="connsiteY0" fmla="*/ 0 h 5126934"/>
              <a:gd name="connsiteX1" fmla="*/ 5442930 w 5497007"/>
              <a:gd name="connsiteY1" fmla="*/ 245771 h 5126934"/>
              <a:gd name="connsiteX2" fmla="*/ 5497007 w 5497007"/>
              <a:gd name="connsiteY2" fmla="*/ 267093 h 5126934"/>
              <a:gd name="connsiteX3" fmla="*/ 5497007 w 5497007"/>
              <a:gd name="connsiteY3" fmla="*/ 2751634 h 5126934"/>
              <a:gd name="connsiteX4" fmla="*/ 5426522 w 5497007"/>
              <a:gd name="connsiteY4" fmla="*/ 2674081 h 5126934"/>
              <a:gd name="connsiteX5" fmla="*/ 4050301 w 5497007"/>
              <a:gd name="connsiteY5" fmla="*/ 2104031 h 5126934"/>
              <a:gd name="connsiteX6" fmla="*/ 2104031 w 5497007"/>
              <a:gd name="connsiteY6" fmla="*/ 4050301 h 5126934"/>
              <a:gd name="connsiteX7" fmla="*/ 2338936 w 5497007"/>
              <a:gd name="connsiteY7" fmla="*/ 4978009 h 5126934"/>
              <a:gd name="connsiteX8" fmla="*/ 2429410 w 5497007"/>
              <a:gd name="connsiteY8" fmla="*/ 5126934 h 5126934"/>
              <a:gd name="connsiteX9" fmla="*/ 145802 w 5497007"/>
              <a:gd name="connsiteY9" fmla="*/ 5126934 h 5126934"/>
              <a:gd name="connsiteX10" fmla="*/ 127515 w 5497007"/>
              <a:gd name="connsiteY10" fmla="*/ 5062534 h 5126934"/>
              <a:gd name="connsiteX11" fmla="*/ 0 w 5497007"/>
              <a:gd name="connsiteY11" fmla="*/ 4050301 h 5126934"/>
              <a:gd name="connsiteX12" fmla="*/ 4050301 w 5497007"/>
              <a:gd name="connsiteY12" fmla="*/ 0 h 51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97007" h="5126934">
                <a:moveTo>
                  <a:pt x="4050301" y="0"/>
                </a:moveTo>
                <a:cubicBezTo>
                  <a:pt x="4539627" y="0"/>
                  <a:pt x="5008686" y="86773"/>
                  <a:pt x="5442930" y="245771"/>
                </a:cubicBezTo>
                <a:lnTo>
                  <a:pt x="5497007" y="267093"/>
                </a:lnTo>
                <a:lnTo>
                  <a:pt x="5497007" y="2751634"/>
                </a:lnTo>
                <a:lnTo>
                  <a:pt x="5426522" y="2674081"/>
                </a:lnTo>
                <a:cubicBezTo>
                  <a:pt x="5074316" y="2321875"/>
                  <a:pt x="4587749" y="2104031"/>
                  <a:pt x="4050301" y="2104031"/>
                </a:cubicBezTo>
                <a:cubicBezTo>
                  <a:pt x="2975406" y="2104031"/>
                  <a:pt x="2104031" y="2975406"/>
                  <a:pt x="2104031" y="4050301"/>
                </a:cubicBezTo>
                <a:cubicBezTo>
                  <a:pt x="2104031" y="4386206"/>
                  <a:pt x="2189126" y="4702236"/>
                  <a:pt x="2338936" y="4978009"/>
                </a:cubicBezTo>
                <a:lnTo>
                  <a:pt x="2429410" y="5126934"/>
                </a:lnTo>
                <a:lnTo>
                  <a:pt x="145802" y="5126934"/>
                </a:lnTo>
                <a:lnTo>
                  <a:pt x="127515" y="5062534"/>
                </a:lnTo>
                <a:cubicBezTo>
                  <a:pt x="44272" y="4738998"/>
                  <a:pt x="0" y="4399820"/>
                  <a:pt x="0" y="4050301"/>
                </a:cubicBezTo>
                <a:cubicBezTo>
                  <a:pt x="0" y="1813382"/>
                  <a:pt x="1813382" y="0"/>
                  <a:pt x="4050301" y="0"/>
                </a:cubicBezTo>
                <a:close/>
              </a:path>
            </a:pathLst>
          </a:custGeom>
          <a:solidFill>
            <a:srgbClr val="A7EBF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pic>
        <p:nvPicPr>
          <p:cNvPr id="31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10865777" y="5749085"/>
            <a:ext cx="1784373" cy="1784373"/>
          </a:xfrm>
          <a:prstGeom prst="rect">
            <a:avLst/>
          </a:prstGeom>
          <a:ln>
            <a:noFill/>
          </a:ln>
        </p:spPr>
      </p:pic>
      <p:pic>
        <p:nvPicPr>
          <p:cNvPr id="32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10569984" y="5320141"/>
            <a:ext cx="958827" cy="1537859"/>
          </a:xfrm>
          <a:prstGeom prst="rect">
            <a:avLst/>
          </a:prstGeom>
          <a:ln>
            <a:noFill/>
          </a:ln>
        </p:spPr>
      </p:pic>
      <p:sp>
        <p:nvSpPr>
          <p:cNvPr id="27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8737600" y="13468352"/>
            <a:ext cx="284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0C913308-F349-4B6D-A68A-DD1791B4A57B}" type="slidenum">
              <a:rPr lang="zh-CN" altLang="en-US">
                <a:solidFill>
                  <a:srgbClr val="00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64" y="4596271"/>
            <a:ext cx="12192001" cy="4167336"/>
          </a:xfrm>
          <a:prstGeom prst="rect">
            <a:avLst/>
          </a:prstGeom>
          <a:ln>
            <a:noFill/>
          </a:ln>
        </p:spPr>
      </p:pic>
      <p:grpSp>
        <p:nvGrpSpPr>
          <p:cNvPr id="11" name="组合 10"/>
          <p:cNvGrpSpPr/>
          <p:nvPr/>
        </p:nvGrpSpPr>
        <p:grpSpPr>
          <a:xfrm>
            <a:off x="4449445" y="2538226"/>
            <a:ext cx="3293110" cy="0"/>
            <a:chOff x="4469765" y="1429639"/>
            <a:chExt cx="3293110" cy="0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6959600" y="1429639"/>
              <a:ext cx="803275" cy="0"/>
            </a:xfrm>
            <a:prstGeom prst="line">
              <a:avLst/>
            </a:prstGeom>
            <a:ln w="15875">
              <a:gradFill>
                <a:gsLst>
                  <a:gs pos="0">
                    <a:srgbClr val="165878"/>
                  </a:gs>
                  <a:gs pos="100000">
                    <a:srgbClr val="165878">
                      <a:alpha val="0"/>
                    </a:srgbClr>
                  </a:gs>
                </a:gsLst>
                <a:lin ang="0" scaled="0"/>
              </a:gradFill>
              <a:head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4469765" y="1429639"/>
              <a:ext cx="803275" cy="0"/>
            </a:xfrm>
            <a:prstGeom prst="line">
              <a:avLst/>
            </a:prstGeom>
            <a:ln w="15875">
              <a:gradFill>
                <a:gsLst>
                  <a:gs pos="0">
                    <a:srgbClr val="165878"/>
                  </a:gs>
                  <a:gs pos="100000">
                    <a:srgbClr val="165878">
                      <a:alpha val="0"/>
                    </a:srgbClr>
                  </a:gs>
                </a:gsLst>
                <a:lin ang="0" scaled="0"/>
              </a:gradFill>
              <a:head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13"/>
          <p:cNvSpPr txBox="1"/>
          <p:nvPr/>
        </p:nvSpPr>
        <p:spPr>
          <a:xfrm>
            <a:off x="5372057" y="2250194"/>
            <a:ext cx="144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sz="2800" b="1" spc="300">
                <a:solidFill>
                  <a:srgbClr val="276482"/>
                </a:solidFill>
                <a:latin typeface="宋体" panose="02010600030101010101" pitchFamily="2" charset="-122"/>
                <a:ea typeface="三极粗极黑简体" panose="00000500000000000000" pitchFamily="2" charset="-122"/>
                <a:sym typeface="宋体" panose="02010600030101010101" pitchFamily="2" charset="-122"/>
              </a:rPr>
              <a:t>XXX</a:t>
            </a:r>
            <a:endParaRPr lang="zh-CN" altLang="en-US" sz="2800" b="1" spc="300">
              <a:solidFill>
                <a:srgbClr val="276482"/>
              </a:solidFill>
              <a:latin typeface="宋体" panose="02010600030101010101" pitchFamily="2" charset="-122"/>
              <a:ea typeface="三极粗极黑简体" panose="00000500000000000000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685262" y="2880634"/>
            <a:ext cx="88214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6000" spc="600">
                <a:solidFill>
                  <a:srgbClr val="276482"/>
                </a:solidFill>
                <a:latin typeface="宋体" panose="02010600030101010101" pitchFamily="2" charset="-122"/>
                <a:ea typeface="三极粗极黑简体" panose="00000500000000000000" pitchFamily="2" charset="-122"/>
                <a:sym typeface="宋体" panose="02010600030101010101" pitchFamily="2" charset="-122"/>
              </a:rPr>
              <a:t>谢谢观看</a:t>
            </a:r>
            <a:endParaRPr lang="zh-CN" altLang="en-US" sz="6000" spc="600">
              <a:solidFill>
                <a:srgbClr val="276482"/>
              </a:solidFill>
              <a:latin typeface="宋体" panose="02010600030101010101" pitchFamily="2" charset="-122"/>
              <a:ea typeface="三极粗极黑简体" panose="00000500000000000000" pitchFamily="2" charset="-122"/>
              <a:sym typeface="宋体" panose="02010600030101010101" pitchFamily="2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1685262" y="3997550"/>
            <a:ext cx="8784976" cy="0"/>
          </a:xfrm>
          <a:prstGeom prst="line">
            <a:avLst/>
          </a:prstGeom>
          <a:ln w="19050">
            <a:gradFill flip="none">
              <a:gsLst>
                <a:gs pos="0">
                  <a:schemeClr val="bg1">
                    <a:alpha val="58000"/>
                  </a:schemeClr>
                </a:gs>
                <a:gs pos="75000">
                  <a:srgbClr val="6C95AA"/>
                </a:gs>
                <a:gs pos="25000">
                  <a:srgbClr val="8DADBD"/>
                </a:gs>
                <a:gs pos="50000">
                  <a:srgbClr val="276482"/>
                </a:gs>
                <a:gs pos="100000">
                  <a:schemeClr val="bg1">
                    <a:alpha val="55000"/>
                  </a:schemeClr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/>
        </p:nvGrpSpPr>
        <p:grpSpPr>
          <a:xfrm>
            <a:off x="5193968" y="4284812"/>
            <a:ext cx="1804064" cy="311459"/>
            <a:chOff x="5193968" y="3573016"/>
            <a:chExt cx="1804064" cy="311459"/>
          </a:xfrm>
        </p:grpSpPr>
        <p:sp>
          <p:nvSpPr>
            <p:cNvPr id="23" name="矩形: 圆角 22"/>
            <p:cNvSpPr/>
            <p:nvPr/>
          </p:nvSpPr>
          <p:spPr>
            <a:xfrm>
              <a:off x="5193968" y="3573016"/>
              <a:ext cx="1804064" cy="311459"/>
            </a:xfrm>
            <a:prstGeom prst="roundRect">
              <a:avLst>
                <a:gd name="adj" fmla="val 26386"/>
              </a:avLst>
            </a:prstGeom>
            <a:solidFill>
              <a:srgbClr val="2764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  <p:sp>
          <p:nvSpPr>
            <p:cNvPr id="24" name="文本框 23"/>
            <p:cNvSpPr txBox="1"/>
            <p:nvPr/>
          </p:nvSpPr>
          <p:spPr>
            <a:xfrm>
              <a:off x="5193968" y="3573016"/>
              <a:ext cx="18040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 algn="ctr"/>
              <a:r>
                <a:rPr lang="zh-CN" altLang="en-US" sz="1400" spc="400">
                  <a:solidFill>
                    <a:schemeClr val="bg1"/>
                  </a:solidFill>
                  <a:latin typeface="宋体" panose="02010600030101010101" pitchFamily="2" charset="-122"/>
                  <a:ea typeface="三极超粗极黑简体" panose="00000500000000000000" pitchFamily="2" charset="-122"/>
                  <a:sym typeface="宋体" panose="02010600030101010101" pitchFamily="2" charset="-122"/>
                </a:rPr>
                <a:t>汇报人：</a:t>
              </a:r>
              <a:r>
                <a:rPr lang="zh-CN" altLang="zh-CN" sz="1400" spc="400">
                  <a:solidFill>
                    <a:schemeClr val="bg1"/>
                  </a:solidFill>
                  <a:latin typeface="宋体" panose="02010600030101010101" pitchFamily="2" charset="-122"/>
                  <a:ea typeface="三极超粗极黑简体" panose="00000500000000000000" pitchFamily="2" charset="-122"/>
                  <a:sym typeface="宋体" panose="02010600030101010101" pitchFamily="2" charset="-122"/>
                </a:rPr>
                <a:t>xxxx</a:t>
              </a:r>
              <a:endParaRPr lang="zh-CN" altLang="en-US" sz="1400" spc="400">
                <a:solidFill>
                  <a:schemeClr val="bg1"/>
                </a:solidFill>
                <a:latin typeface="宋体" panose="02010600030101010101" pitchFamily="2" charset="-122"/>
                <a:ea typeface="三极超粗极黑简体" panose="00000500000000000000" pitchFamily="2" charset="-122"/>
                <a:sym typeface="宋体" panose="02010600030101010101" pitchFamily="2" charset="-122"/>
              </a:endParaRPr>
            </a:p>
          </p:txBody>
        </p:sp>
      </p:grp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</p:sld>
</file>

<file path=ppt/tags/tag1.xml><?xml version="1.0" encoding="utf-8"?>
<p:tagLst xmlns:p="http://schemas.openxmlformats.org/presentationml/2006/main">
  <p:tag name="PA" val="v5.1.1"/>
</p:tagLst>
</file>

<file path=ppt/tags/tag2.xml><?xml version="1.0" encoding="utf-8"?>
<p:tagLst xmlns:p="http://schemas.openxmlformats.org/presentationml/2006/main">
  <p:tag name="KSO_WM_BEAUTIFY_FLAG" val="#wm#"/>
  <p:tag name="KSO_WM_DIAGRAM_GROUP_CODE" val="l1-1"/>
  <p:tag name="KSO_WM_TAG_VERSION" val="1.0"/>
  <p:tag name="KSO_WM_TEMPLATE_CATEGORY" val="diagram"/>
  <p:tag name="KSO_WM_TEMPLATE_INDEX" val="20168882"/>
  <p:tag name="KSO_WM_UNIT_COMPATIBLE" val="0"/>
  <p:tag name="KSO_WM_UNIT_DIAGRAM_ISNUMVISUAL" val="0"/>
  <p:tag name="KSO_WM_UNIT_DIAGRAM_ISREFERUNIT" val="0"/>
  <p:tag name="KSO_WM_UNIT_FILL_FORE_SCHEMECOLOR_INDEX" val="5"/>
  <p:tag name="KSO_WM_UNIT_FILL_TYPE" val="1"/>
  <p:tag name="KSO_WM_UNIT_HIGHLIGHT" val="0"/>
  <p:tag name="KSO_WM_UNIT_ID" val="diagram20168882_1*l_h_i*1_1_2"/>
  <p:tag name="KSO_WM_UNIT_INDEX" val="1_1_2"/>
  <p:tag name="KSO_WM_UNIT_LAYERLEVEL" val="1_1_1"/>
  <p:tag name="KSO_WM_UNIT_TEXT_FILL_FORE_SCHEMECOLOR_INDEX" val="14"/>
  <p:tag name="KSO_WM_UNIT_TEXT_FILL_TYPE" val="1"/>
  <p:tag name="KSO_WM_UNIT_TYPE" val="l_h_i"/>
</p:tagLst>
</file>

<file path=ppt/tags/tag3.xml><?xml version="1.0" encoding="utf-8"?>
<p:tagLst xmlns:p="http://schemas.openxmlformats.org/presentationml/2006/main">
  <p:tag name="KSO_WM_BEAUTIFY_FLAG" val="#wm#"/>
  <p:tag name="KSO_WM_DIAGRAM_GROUP_CODE" val="l1-1"/>
  <p:tag name="KSO_WM_TAG_VERSION" val="1.0"/>
  <p:tag name="KSO_WM_TEMPLATE_CATEGORY" val="diagram"/>
  <p:tag name="KSO_WM_TEMPLATE_INDEX" val="20168882"/>
  <p:tag name="KSO_WM_UNIT_COMPATIBLE" val="0"/>
  <p:tag name="KSO_WM_UNIT_DIAGRAM_ISNUMVISUAL" val="0"/>
  <p:tag name="KSO_WM_UNIT_DIAGRAM_ISREFERUNIT" val="0"/>
  <p:tag name="KSO_WM_UNIT_FILL_FORE_SCHEMECOLOR_INDEX" val="14"/>
  <p:tag name="KSO_WM_UNIT_FILL_TYPE" val="1"/>
  <p:tag name="KSO_WM_UNIT_HIGHLIGHT" val="0"/>
  <p:tag name="KSO_WM_UNIT_ID" val="diagram20168882_1*l_h_i*1_1_4"/>
  <p:tag name="KSO_WM_UNIT_INDEX" val="1_1_4"/>
  <p:tag name="KSO_WM_UNIT_LAYERLEVEL" val="1_1_1"/>
  <p:tag name="KSO_WM_UNIT_TEXT_FILL_FORE_SCHEMECOLOR_INDEX" val="14"/>
  <p:tag name="KSO_WM_UNIT_TEXT_FILL_TYPE" val="1"/>
  <p:tag name="KSO_WM_UNIT_TYPE" val="l_h_i"/>
</p:tagLst>
</file>

<file path=ppt/tags/tag4.xml><?xml version="1.0" encoding="utf-8"?>
<p:tagLst xmlns:p="http://schemas.openxmlformats.org/presentationml/2006/main">
  <p:tag name="KSO_WM_BEAUTIFY_FLAG" val="#wm#"/>
  <p:tag name="KSO_WM_DIAGRAM_GROUP_CODE" val="l1-1"/>
  <p:tag name="KSO_WM_TAG_VERSION" val="1.0"/>
  <p:tag name="KSO_WM_TEMPLATE_CATEGORY" val="diagram"/>
  <p:tag name="KSO_WM_TEMPLATE_INDEX" val="20168882"/>
  <p:tag name="KSO_WM_UNIT_COMPATIBLE" val="0"/>
  <p:tag name="KSO_WM_UNIT_DIAGRAM_ISNUMVISUAL" val="0"/>
  <p:tag name="KSO_WM_UNIT_DIAGRAM_ISREFERUNIT" val="0"/>
  <p:tag name="KSO_WM_UNIT_HIGHLIGHT" val="0"/>
  <p:tag name="KSO_WM_UNIT_ID" val="diagram20168882_1*l_h_f*1_1_1"/>
  <p:tag name="KSO_WM_UNIT_INDEX" val="1_1_1"/>
  <p:tag name="KSO_WM_UNIT_LAYERLEVEL" val="1_1_1"/>
  <p:tag name="KSO_WM_UNIT_NOCLEAR" val="0"/>
  <p:tag name="KSO_WM_UNIT_PRESET_TEXT" val="请在此输入您的文本。"/>
  <p:tag name="KSO_WM_UNIT_TEXT_FILL_FORE_SCHEMECOLOR_INDEX" val="13"/>
  <p:tag name="KSO_WM_UNIT_TEXT_FILL_TYPE" val="1"/>
  <p:tag name="KSO_WM_UNIT_TYPE" val="l_h_f"/>
  <p:tag name="KSO_WM_UNIT_VALUE" val="12"/>
</p:tagLst>
</file>

<file path=ppt/tags/tag5.xml><?xml version="1.0" encoding="utf-8"?>
<p:tagLst xmlns:p="http://schemas.openxmlformats.org/presentationml/2006/main">
  <p:tag name="KSO_WM_BEAUTIFY_FLAG" val="#wm#"/>
  <p:tag name="KSO_WM_DIAGRAM_GROUP_CODE" val="l1-1"/>
  <p:tag name="KSO_WM_TAG_VERSION" val="1.0"/>
  <p:tag name="KSO_WM_TEMPLATE_CATEGORY" val="diagram"/>
  <p:tag name="KSO_WM_TEMPLATE_INDEX" val="20168882"/>
  <p:tag name="KSO_WM_UNIT_COMPATIBLE" val="0"/>
  <p:tag name="KSO_WM_UNIT_DIAGRAM_ISNUMVISUAL" val="0"/>
  <p:tag name="KSO_WM_UNIT_DIAGRAM_ISREFERUNIT" val="0"/>
  <p:tag name="KSO_WM_UNIT_HIGHLIGHT" val="0"/>
  <p:tag name="KSO_WM_UNIT_ID" val="diagram20168882_1*l_h_i*1_1_5"/>
  <p:tag name="KSO_WM_UNIT_INDEX" val="1_1_5"/>
  <p:tag name="KSO_WM_UNIT_LAYERLEVEL" val="1_1_1"/>
  <p:tag name="KSO_WM_UNIT_TEXT_FILL_FORE_SCHEMECOLOR_INDEX" val="14"/>
  <p:tag name="KSO_WM_UNIT_TEXT_FILL_TYPE" val="1"/>
  <p:tag name="KSO_WM_UNIT_TYPE" val="l_h_i"/>
</p:tagLst>
</file>

<file path=ppt/tags/tag6.xml><?xml version="1.0" encoding="utf-8"?>
<p:tagLst xmlns:p="http://schemas.openxmlformats.org/presentationml/2006/main">
  <p:tag name="KSO_WM_BEAUTIFY_FLAG" val="#wm#"/>
  <p:tag name="KSO_WM_DIAGRAM_GROUP_CODE" val="l1-1"/>
  <p:tag name="KSO_WM_TAG_VERSION" val="1.0"/>
  <p:tag name="KSO_WM_TEMPLATE_CATEGORY" val="diagram"/>
  <p:tag name="KSO_WM_TEMPLATE_INDEX" val="20168882"/>
  <p:tag name="KSO_WM_UNIT_COMPATIBLE" val="0"/>
  <p:tag name="KSO_WM_UNIT_DIAGRAM_ISNUMVISUAL" val="0"/>
  <p:tag name="KSO_WM_UNIT_DIAGRAM_ISREFERUNIT" val="0"/>
  <p:tag name="KSO_WM_UNIT_HIGHLIGHT" val="0"/>
  <p:tag name="KSO_WM_UNIT_ID" val="diagram20168882_1*a*1"/>
  <p:tag name="KSO_WM_UNIT_INDEX" val="1"/>
  <p:tag name="KSO_WM_UNIT_ISCONTENTSTITLE" val="0"/>
  <p:tag name="KSO_WM_UNIT_LAYERLEVEL" val="1"/>
  <p:tag name="KSO_WM_UNIT_NOCLEAR" val="0"/>
  <p:tag name="KSO_WM_UNIT_PRESET_TEXT" val="目录"/>
  <p:tag name="KSO_WM_UNIT_TEXT_FILL_FORE_SCHEMECOLOR_INDEX" val="5"/>
  <p:tag name="KSO_WM_UNIT_TEXT_FILL_TYPE" val="1"/>
  <p:tag name="KSO_WM_UNIT_TYPE" val="a"/>
  <p:tag name="KSO_WM_UNIT_VALUE" val="2"/>
</p:tagLst>
</file>

<file path=ppt/tags/tag7.xml><?xml version="1.0" encoding="utf-8"?>
<p:tagLst xmlns:p="http://schemas.openxmlformats.org/presentationml/2006/main">
  <p:tag name="KSO_WM_BEAUTIFY_FLAG" val="#wm#"/>
  <p:tag name="KSO_WM_DIAGRAM_GROUP_CODE" val="l1-1"/>
  <p:tag name="KSO_WM_TAG_VERSION" val="1.0"/>
  <p:tag name="KSO_WM_TEMPLATE_CATEGORY" val="diagram"/>
  <p:tag name="KSO_WM_TEMPLATE_INDEX" val="20168882"/>
  <p:tag name="KSO_WM_UNIT_COMPATIBLE" val="0"/>
  <p:tag name="KSO_WM_UNIT_DIAGRAM_ISNUMVISUAL" val="0"/>
  <p:tag name="KSO_WM_UNIT_DIAGRAM_ISREFERUNIT" val="0"/>
  <p:tag name="KSO_WM_UNIT_HIGHLIGHT" val="0"/>
  <p:tag name="KSO_WM_UNIT_ID" val="diagram20168882_1*b*1"/>
  <p:tag name="KSO_WM_UNIT_INDEX" val="1"/>
  <p:tag name="KSO_WM_UNIT_ISCONTENTSTITLE" val="0"/>
  <p:tag name="KSO_WM_UNIT_LAYERLEVEL" val="1"/>
  <p:tag name="KSO_WM_UNIT_NOCLEAR" val="0"/>
  <p:tag name="KSO_WM_UNIT_PRESET_TEXT" val="Content"/>
  <p:tag name="KSO_WM_UNIT_TEXT_FILL_FORE_SCHEMECOLOR_INDEX" val="5"/>
  <p:tag name="KSO_WM_UNIT_TEXT_FILL_TYPE" val="1"/>
  <p:tag name="KSO_WM_UNIT_TYPE" val="b"/>
  <p:tag name="KSO_WM_UNIT_VALUE" val="4"/>
</p:tagLst>
</file>

<file path=ppt/tags/tag8.xml><?xml version="1.0" encoding="utf-8"?>
<p:tagLst xmlns:p="http://schemas.openxmlformats.org/presentationml/2006/main">
  <p:tag name="KSO_WM_BEAUTIFY_FLAG" val="#wm#"/>
  <p:tag name="KSO_WM_DIAGRAM_GROUP_CODE" val="l1-1"/>
  <p:tag name="KSO_WM_TAG_VERSION" val="1.0"/>
  <p:tag name="KSO_WM_TEMPLATE_CATEGORY" val="diagram"/>
  <p:tag name="KSO_WM_TEMPLATE_INDEX" val="20168882"/>
  <p:tag name="KSO_WM_UNIT_COMPATIBLE" val="0"/>
  <p:tag name="KSO_WM_UNIT_DIAGRAM_ISNUMVISUAL" val="0"/>
  <p:tag name="KSO_WM_UNIT_DIAGRAM_ISREFERUNIT" val="0"/>
  <p:tag name="KSO_WM_UNIT_HIGHLIGHT" val="0"/>
  <p:tag name="KSO_WM_UNIT_ID" val="diagram20168882_1*i*1"/>
  <p:tag name="KSO_WM_UNIT_INDEX" val="1"/>
  <p:tag name="KSO_WM_UNIT_LAYERLEVEL" val="1"/>
  <p:tag name="KSO_WM_UNIT_LINE_FILL_TYPE" val="2"/>
  <p:tag name="KSO_WM_UNIT_LINE_FORE_SCHEMECOLOR_INDEX" val="5"/>
  <p:tag name="KSO_WM_UNIT_TYPE" val="i"/>
</p:tagLst>
</file>

<file path=ppt/tags/tag9.xml><?xml version="1.0" encoding="utf-8"?>
<p:tagLst xmlns:p="http://schemas.openxmlformats.org/presentationml/2006/main">
  <p:tag name="KSO_WM_DIAGRAM_VIRTUALLY_FRAME" val="{&quot;height&quot;:361,&quot;left&quot;:88,&quot;top&quot;:112,&quot;width&quot;:784}"/>
</p:tagLst>
</file>

<file path=ppt/tags/tag10.xml><?xml version="1.0" encoding="utf-8"?>
<p:tagLst xmlns:p="http://schemas.openxmlformats.org/presentationml/2006/main">
  <p:tag name="KSO_WM_DIAGRAM_VIRTUALLY_FRAME" val="{&quot;height&quot;:361,&quot;left&quot;:88,&quot;top&quot;:112,&quot;width&quot;:784}"/>
</p:tagLst>
</file>

<file path=ppt/tags/tag11.xml><?xml version="1.0" encoding="utf-8"?>
<p:tagLst xmlns:p="http://schemas.openxmlformats.org/presentationml/2006/main">
  <p:tag name="KSO_WM_DIAGRAM_VIRTUALLY_FRAME" val="{&quot;height&quot;:361,&quot;left&quot;:88,&quot;top&quot;:112,&quot;width&quot;:784}"/>
</p:tagLst>
</file>

<file path=ppt/tags/tag12.xml><?xml version="1.0" encoding="utf-8"?>
<p:tagLst xmlns:p="http://schemas.openxmlformats.org/presentationml/2006/main">
  <p:tag name="KSO_WM_DIAGRAM_VIRTUALLY_FRAME" val="{&quot;height&quot;:361,&quot;left&quot;:88,&quot;top&quot;:112,&quot;width&quot;:784}"/>
</p:tagLst>
</file>

<file path=ppt/tags/tag13.xml><?xml version="1.0" encoding="utf-8"?>
<p:tagLst xmlns:p="http://schemas.openxmlformats.org/presentationml/2006/main">
  <p:tag name="KSO_WM_DIAGRAM_VIRTUALLY_FRAME" val="{&quot;height&quot;:361,&quot;left&quot;:88,&quot;top&quot;:112,&quot;width&quot;:784}"/>
</p:tagLst>
</file>

<file path=ppt/tags/tag14.xml><?xml version="1.0" encoding="utf-8"?>
<p:tagLst xmlns:p="http://schemas.openxmlformats.org/presentationml/2006/main">
  <p:tag name="KSO_WM_DIAGRAM_VIRTUALLY_FRAME" val="{&quot;height&quot;:361,&quot;left&quot;:88,&quot;top&quot;:112,&quot;width&quot;:784}"/>
</p:tagLst>
</file>

<file path=ppt/tags/tag15.xml><?xml version="1.0" encoding="utf-8"?>
<p:tagLst xmlns:p="http://schemas.openxmlformats.org/presentationml/2006/main">
  <p:tag name="KSO_WM_DIAGRAM_VIRTUALLY_FRAME" val="{&quot;height&quot;:361,&quot;left&quot;:88,&quot;top&quot;:112,&quot;width&quot;:784}"/>
</p:tagLst>
</file>

<file path=ppt/tags/tag16.xml><?xml version="1.0" encoding="utf-8"?>
<p:tagLst xmlns:p="http://schemas.openxmlformats.org/presentationml/2006/main">
  <p:tag name="KSO_WM_DIAGRAM_VIRTUALLY_FRAME" val="{&quot;height&quot;:361,&quot;left&quot;:88,&quot;top&quot;:112,&quot;width&quot;:784}"/>
</p:tagLst>
</file>

<file path=ppt/tags/tag17.xml><?xml version="1.0" encoding="utf-8"?>
<p:tagLst xmlns:p="http://schemas.openxmlformats.org/presentationml/2006/main">
  <p:tag name="TIMING" val="|0.5|0.8|1.1|0.7|1|0.8|0.6|0.9"/>
</p:tagLst>
</file>

<file path=ppt/tags/tag18.xml><?xml version="1.0" encoding="utf-8"?>
<p:tagLst xmlns:p="http://schemas.openxmlformats.org/presentationml/2006/main">
  <p:tag name="AS_NET" val="4.0.30319.42000"/>
  <p:tag name="AS_OS" val="Microsoft Windows NT 6.2.9200.0"/>
  <p:tag name="AS_RELEASE_DATE" val="2017.10.11"/>
  <p:tag name="AS_TITLE" val="Aspose.Slides for .NET 2.0"/>
  <p:tag name="AS_VERSION" val="17.9.1"/>
  <p:tag name="commondata" val="eyJoZGlkIjoiN2YzNjBkOTgyNWQ1YTMxYzM3MzMwNWFiODNmOWIzYW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 overrid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766</Words>
  <Application>WPS 演示</Application>
  <PresentationFormat>全屏显示(4:3)</PresentationFormat>
  <Paragraphs>98</Paragraphs>
  <Slides>18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7" baseType="lpstr">
      <vt:lpstr>Arial</vt:lpstr>
      <vt:lpstr>宋体</vt:lpstr>
      <vt:lpstr>Wingdings</vt:lpstr>
      <vt:lpstr>思源黑体 CN Heavy</vt:lpstr>
      <vt:lpstr>黑体</vt:lpstr>
      <vt:lpstr>方正黑体简体</vt:lpstr>
      <vt:lpstr>思源黑体 CN Normal</vt:lpstr>
      <vt:lpstr>Calibri</vt:lpstr>
      <vt:lpstr>Arial</vt:lpstr>
      <vt:lpstr>微软雅黑</vt:lpstr>
      <vt:lpstr>仿宋_GB2312</vt:lpstr>
      <vt:lpstr>仿宋</vt:lpstr>
      <vt:lpstr>三极粗极黑简体</vt:lpstr>
      <vt:lpstr>三极超粗极黑简体</vt:lpstr>
      <vt:lpstr>等线</vt:lpstr>
      <vt:lpstr>Arial Unicode MS</vt:lpstr>
      <vt:lpstr>等线 Light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如鲸在渊</cp:lastModifiedBy>
  <cp:revision>6</cp:revision>
  <dcterms:created xsi:type="dcterms:W3CDTF">2024-05-14T01:17:00Z</dcterms:created>
  <dcterms:modified xsi:type="dcterms:W3CDTF">2024-05-14T04:50:34Z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842DA9BAD00C4633AC3FFAE252DBBBEF_12</vt:lpwstr>
  </property>
  <property fmtid="{D5CDD505-2E9C-101B-9397-08002B2CF9AE}" pid="3" name="KSOProductBuildVer">
    <vt:lpwstr>2052-12.1.0.16729</vt:lpwstr>
  </property>
</Properties>
</file>